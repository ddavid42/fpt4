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5"/>
  </p:notesMasterIdLst>
  <p:sldIdLst>
    <p:sldId id="256" r:id="rId5"/>
    <p:sldId id="303" r:id="rId6"/>
    <p:sldId id="302" r:id="rId7"/>
    <p:sldId id="257" r:id="rId8"/>
    <p:sldId id="258" r:id="rId9"/>
    <p:sldId id="259" r:id="rId10"/>
    <p:sldId id="260" r:id="rId11"/>
    <p:sldId id="270" r:id="rId12"/>
    <p:sldId id="272" r:id="rId13"/>
    <p:sldId id="271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61" r:id="rId22"/>
    <p:sldId id="285" r:id="rId23"/>
    <p:sldId id="286" r:id="rId24"/>
    <p:sldId id="287" r:id="rId25"/>
    <p:sldId id="281" r:id="rId26"/>
    <p:sldId id="288" r:id="rId27"/>
    <p:sldId id="291" r:id="rId28"/>
    <p:sldId id="289" r:id="rId29"/>
    <p:sldId id="292" r:id="rId30"/>
    <p:sldId id="293" r:id="rId31"/>
    <p:sldId id="296" r:id="rId32"/>
    <p:sldId id="295" r:id="rId33"/>
    <p:sldId id="297" r:id="rId34"/>
    <p:sldId id="298" r:id="rId35"/>
    <p:sldId id="299" r:id="rId36"/>
    <p:sldId id="263" r:id="rId37"/>
    <p:sldId id="264" r:id="rId38"/>
    <p:sldId id="265" r:id="rId39"/>
    <p:sldId id="266" r:id="rId40"/>
    <p:sldId id="269" r:id="rId41"/>
    <p:sldId id="300" r:id="rId42"/>
    <p:sldId id="301" r:id="rId43"/>
    <p:sldId id="304" r:id="rId4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B4CC9-FA3C-48B7-A00D-CC73D1B77AB1}" v="1993" dt="2025-08-22T01:55:40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59" autoAdjust="0"/>
    <p:restoredTop sz="94660"/>
  </p:normalViewPr>
  <p:slideViewPr>
    <p:cSldViewPr snapToGrid="0">
      <p:cViewPr varScale="1">
        <p:scale>
          <a:sx n="93" d="100"/>
          <a:sy n="93" d="100"/>
        </p:scale>
        <p:origin x="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D83EE-94B0-4594-87B9-740418A8DCDC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A5E7F-24F6-4037-BC13-4C34BDB084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8777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A5E7F-24F6-4037-BC13-4C34BDB084F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688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84ECB-BA2A-4C31-03F1-54D2C524D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31B37AA-FA45-39F4-D8F0-2A25E0CA7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5525DA0-0BC5-8054-E567-2D5AB2184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5FED2F-4BD2-021E-AAA8-F63F9E959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A5E7F-24F6-4037-BC13-4C34BDB084F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852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496624-E8AC-4532-5F7C-65E42825F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BEDE366-A581-D1D9-26CF-6B23789EA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0F94FC-E579-52EF-627E-48F45084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11446E-422E-BC9A-DFAB-175EF44E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1C80E9-5889-BB88-8940-BDF5157A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20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427392-1B20-C1F3-1EE5-92798A99A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B59655-9B07-D033-E96B-EB37907F5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513793-2B33-E8F9-F023-65F94C4E2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EB6ACF-6C62-DBBE-AD3C-F1B47BC3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62D6EC-9681-7821-5546-F6B5C902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951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FE2D0F-58A2-4761-4033-2D26B88C3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DB7517-EFA2-9454-D2AA-D8D8B29C6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3D99CB-96FC-8B02-1011-B8095936D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4805BE-1F50-839F-CCDE-2FBF9EA5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597113-FA76-FCAA-3072-FF718CD0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8069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D0BDB6-08D9-8B66-BE03-A75A2647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732A7F-9E7F-18B4-37D8-7EB6CC5C6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1F1FE1F-47C6-4F30-9873-6B5D5BB76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0F8B6E-AB13-BB76-7802-812A3609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2A6932-0D1D-B97F-61E0-56A006FA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EDE911-D307-791A-E417-FA4BAADEB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9277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022E7-DD10-BBEE-291A-3A77C4D2B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BCBE3C-086C-5FDD-B5B0-848A8397C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1E7CF8-308B-E3A7-4F25-0FB953AB6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F16DE5-531F-DBF4-7749-D130AA7BB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9F91BD-D555-64F0-C302-030F7E372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0641F47-C110-4903-EAAA-CEE4BC915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F9F8380-2853-EA47-13C7-9E27DA1F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2092628-1B47-D55F-1788-389A1AD6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004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CF905B-9CF7-9222-ABAC-406B2BEB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FDFF1C-7455-14AD-9A69-F8933D35C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1F277F0-B2B7-5779-7663-9EA363D7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B7D421-56FB-D2E0-7B2A-281E6934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448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312D03-FFD2-286C-47F0-91943572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2E09BB3-0C65-0ED9-EFB1-29805F3A2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817F56-7087-23CA-DF05-4BB53A73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41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E0426-3E7B-BCFF-4206-9E1ABB14E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1E9498-A5CE-46D5-CFB3-21AEA2D35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B7B2AFB-5FF6-6D7E-DB16-E0A8E7058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E2D730-CA62-DA1F-C1D7-E7667CBE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AAE890-3921-370A-7D05-E6ED1AC8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2B9F56-3E46-22ED-96BA-D4907665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084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2F3E7A-1F50-48E8-A28E-0FF0E2A3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0FF342-64A4-61BF-1D9D-B51B2FEDD4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CB9E5F-1EFB-3B32-B975-011F7698A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D7EB6B-7641-892D-9C31-D18E9A11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1602CA-15ED-A0A7-10A2-2B2BDDB98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DB693F-6808-47EA-4EC5-1A7A4FFD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03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05E943-0F8E-45A9-97AA-4F61F84D5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FBAAB4A-3295-601E-2497-2D00A701A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DDA944-1739-0660-ACA9-83C2B6DB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B13C15-3AB7-09E5-45DC-12B4C9631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B634CF-1DD8-E13C-51C2-2362D19F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3817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E0E3FFA-F1A2-480E-807D-D65C51D09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77DC00-5047-0D0A-8AEC-779869B74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6D692A-3B96-A597-E24D-FD3C57370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8067BB-5592-7E16-54D3-E55D6C92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163809-426B-372A-8D98-5E6E2386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95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4C100EE-FEF5-B52A-B271-F564377C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A64832-C8BC-85A2-FD1C-5A227D657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1B019A-DB6F-45BA-85D5-A36DD49C1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E0C5A-6A64-4664-A994-598979D6A2F9}" type="datetimeFigureOut">
              <a:rPr lang="fr-FR" smtClean="0"/>
              <a:t>26/03/2026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6B7AD0-6260-D409-418B-B8B8EB8D4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14CBB3-8B35-FDF4-59B8-7785CFA3E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29650C-E0CD-46AE-816A-65DBCC511A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25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1C7A9D9-63BA-95BC-FD60-6D4858E41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fr-FR" sz="4800">
                <a:solidFill>
                  <a:srgbClr val="FFFFFF"/>
                </a:solidFill>
              </a:rPr>
              <a:t>Parallélisation du delta debug stochastique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612387-989C-201C-7E96-3C07BB3C1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fr-FR">
                <a:solidFill>
                  <a:srgbClr val="FFFFFF"/>
                </a:solidFill>
              </a:rPr>
              <a:t>Projet Lockcell</a:t>
            </a:r>
          </a:p>
        </p:txBody>
      </p:sp>
    </p:spTree>
    <p:extLst>
      <p:ext uri="{BB962C8B-B14F-4D97-AF65-F5344CB8AC3E}">
        <p14:creationId xmlns:p14="http://schemas.microsoft.com/office/powerpoint/2010/main" val="1258232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AE272-D07E-7910-100B-84FACD96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AFF309-170B-9354-9FED-0BBFF4C0E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BD846F-59E5-14A7-D979-049ACB564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669A7A-ACAD-BCAB-DA30-D1B80B684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9E52F0-58B4-BAB9-3266-F28198766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71F96E-1144-8497-818B-3EF75F59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FF5E3C-0F82-884E-FC0B-3EF46942D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2A2F5-2889-A85F-81E7-12B9A3B89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B2E336E-46A1-5611-EE25-57B00D352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fr-FR" sz="4800" dirty="0">
                <a:solidFill>
                  <a:srgbClr val="FFFFFF"/>
                </a:solidFill>
              </a:rPr>
              <a:t>Objectif :</a:t>
            </a:r>
            <a:br>
              <a:rPr lang="fr-FR" sz="4800" dirty="0">
                <a:solidFill>
                  <a:srgbClr val="FFFFFF"/>
                </a:solidFill>
              </a:rPr>
            </a:br>
            <a:r>
              <a:rPr lang="fr-FR" sz="2000" dirty="0">
                <a:solidFill>
                  <a:srgbClr val="FFFFFF"/>
                </a:solidFill>
              </a:rPr>
              <a:t>Comprendre le nouvel algorithme et voir à quoi ressemble l’implémentation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C78D99-C18F-A91F-7D61-856B7D05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43D147-39F2-B67D-5C73-162FD867B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endParaRPr lang="fr-F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21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A88FF8-1EAF-B300-4284-D2DBC4BC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BE776-224F-CECF-A80F-B60316A74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Introduction : Rappels sur le delta </a:t>
            </a:r>
            <a:r>
              <a:rPr lang="fr-FR" dirty="0" err="1"/>
              <a:t>debug</a:t>
            </a:r>
            <a:endParaRPr lang="fr-FR" dirty="0"/>
          </a:p>
          <a:p>
            <a:endParaRPr lang="fr-FR" dirty="0"/>
          </a:p>
          <a:p>
            <a:r>
              <a:rPr lang="fr-FR" dirty="0"/>
              <a:t>Problèmes de parallélisation</a:t>
            </a:r>
          </a:p>
          <a:p>
            <a:endParaRPr lang="fr-FR" dirty="0"/>
          </a:p>
          <a:p>
            <a:r>
              <a:rPr lang="fr-FR" dirty="0"/>
              <a:t>Nouvelle approche algorithmique</a:t>
            </a:r>
          </a:p>
          <a:p>
            <a:endParaRPr lang="fr-FR" dirty="0"/>
          </a:p>
          <a:p>
            <a:r>
              <a:rPr lang="fr-FR" dirty="0"/>
              <a:t>Exemple d’utilisation</a:t>
            </a:r>
          </a:p>
        </p:txBody>
      </p:sp>
    </p:spTree>
    <p:extLst>
      <p:ext uri="{BB962C8B-B14F-4D97-AF65-F5344CB8AC3E}">
        <p14:creationId xmlns:p14="http://schemas.microsoft.com/office/powerpoint/2010/main" val="201759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19AF7-415A-00BA-2E50-212F298F7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Rappel sur le delta </a:t>
            </a:r>
            <a:r>
              <a:rPr lang="fr-FR" dirty="0" err="1"/>
              <a:t>debug</a:t>
            </a:r>
            <a:r>
              <a:rPr lang="fr-FR" dirty="0"/>
              <a:t> : Représentation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B1A3F61-A1F1-C26A-0F75-839E30657315}"/>
              </a:ext>
            </a:extLst>
          </p:cNvPr>
          <p:cNvSpPr txBox="1"/>
          <p:nvPr/>
        </p:nvSpPr>
        <p:spPr>
          <a:xfrm>
            <a:off x="3759708" y="1816903"/>
            <a:ext cx="46725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1, 2, 3, 4, 5, 6, 7, 8, 9, 10, 11, 12, 13, 14, 15, 16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C02E640-CA87-3389-AD1C-10B365DD57DB}"/>
              </a:ext>
            </a:extLst>
          </p:cNvPr>
          <p:cNvSpPr txBox="1"/>
          <p:nvPr/>
        </p:nvSpPr>
        <p:spPr>
          <a:xfrm>
            <a:off x="3759708" y="2873620"/>
            <a:ext cx="45628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✖  ✖  ✖  ✖  ✖  ✖  ✖  ✖  ✖  ✖  ✖  ✖  ✖  ✖  ✖  ✖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8D266BA3-8D66-46FD-CD92-0ECB78AC90C4}"/>
              </a:ext>
            </a:extLst>
          </p:cNvPr>
          <p:cNvCxnSpPr/>
          <p:nvPr/>
        </p:nvCxnSpPr>
        <p:spPr>
          <a:xfrm>
            <a:off x="6090285" y="2345071"/>
            <a:ext cx="0" cy="38404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B607165E-C44C-3869-0064-750088A4085B}"/>
              </a:ext>
            </a:extLst>
          </p:cNvPr>
          <p:cNvSpPr txBox="1"/>
          <p:nvPr/>
        </p:nvSpPr>
        <p:spPr>
          <a:xfrm>
            <a:off x="3759708" y="1816903"/>
            <a:ext cx="46725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1, 2, </a:t>
            </a:r>
            <a:r>
              <a:rPr lang="fr-FR" dirty="0">
                <a:solidFill>
                  <a:srgbClr val="FF0000"/>
                </a:solidFill>
              </a:rPr>
              <a:t>3, 4, 5,</a:t>
            </a:r>
            <a:r>
              <a:rPr lang="fr-FR" dirty="0"/>
              <a:t> 6, 7, 8, 9, 10, 11, 12, 13, 14, 15, 16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C955C8C-B438-3F31-28B9-D44650EA5277}"/>
              </a:ext>
            </a:extLst>
          </p:cNvPr>
          <p:cNvSpPr txBox="1"/>
          <p:nvPr/>
        </p:nvSpPr>
        <p:spPr>
          <a:xfrm>
            <a:off x="3759708" y="1819110"/>
            <a:ext cx="46725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1, 2, 3, 4, 5, 6, 7, 8, 9, </a:t>
            </a:r>
            <a:r>
              <a:rPr lang="fr-FR" dirty="0">
                <a:solidFill>
                  <a:srgbClr val="FFC000"/>
                </a:solidFill>
              </a:rPr>
              <a:t>10,</a:t>
            </a:r>
            <a:r>
              <a:rPr lang="fr-FR" dirty="0"/>
              <a:t> 11, </a:t>
            </a:r>
            <a:r>
              <a:rPr lang="fr-FR" dirty="0">
                <a:solidFill>
                  <a:schemeClr val="accent6"/>
                </a:solidFill>
              </a:rPr>
              <a:t>12,</a:t>
            </a:r>
            <a:r>
              <a:rPr lang="fr-FR" dirty="0"/>
              <a:t> </a:t>
            </a:r>
            <a:r>
              <a:rPr lang="fr-FR" dirty="0">
                <a:solidFill>
                  <a:srgbClr val="FFC000"/>
                </a:solidFill>
              </a:rPr>
              <a:t>13,</a:t>
            </a:r>
            <a:r>
              <a:rPr lang="fr-FR" dirty="0"/>
              <a:t> 14, </a:t>
            </a:r>
            <a:r>
              <a:rPr lang="fr-FR" dirty="0">
                <a:solidFill>
                  <a:schemeClr val="accent6"/>
                </a:solidFill>
              </a:rPr>
              <a:t>15,</a:t>
            </a:r>
            <a:r>
              <a:rPr lang="fr-FR" dirty="0"/>
              <a:t> 16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80B5EDF-52B4-03E1-858F-FA4242FCF488}"/>
              </a:ext>
            </a:extLst>
          </p:cNvPr>
          <p:cNvSpPr txBox="1"/>
          <p:nvPr/>
        </p:nvSpPr>
        <p:spPr>
          <a:xfrm>
            <a:off x="3759708" y="1816903"/>
            <a:ext cx="46725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1, 2, 3, 4, 5, 6, </a:t>
            </a:r>
            <a:r>
              <a:rPr lang="fr-F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7, </a:t>
            </a:r>
            <a:r>
              <a:rPr lang="fr-FR" dirty="0"/>
              <a:t>8, 9, 10, 11, 12, 13, 14, 15, 16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4D347A6-D79C-68BD-536E-3730789141FC}"/>
              </a:ext>
            </a:extLst>
          </p:cNvPr>
          <p:cNvSpPr txBox="1"/>
          <p:nvPr/>
        </p:nvSpPr>
        <p:spPr>
          <a:xfrm>
            <a:off x="3759708" y="1816903"/>
            <a:ext cx="46725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1, 2, 3, 4, 5, 6, 7, 8, 9, </a:t>
            </a:r>
            <a:r>
              <a:rPr lang="fr-FR" dirty="0">
                <a:solidFill>
                  <a:srgbClr val="FFC000"/>
                </a:solidFill>
              </a:rPr>
              <a:t>10,</a:t>
            </a:r>
            <a:r>
              <a:rPr lang="fr-FR" dirty="0"/>
              <a:t> 11, 12, </a:t>
            </a:r>
            <a:r>
              <a:rPr lang="fr-FR" dirty="0">
                <a:solidFill>
                  <a:srgbClr val="FFC000"/>
                </a:solidFill>
              </a:rPr>
              <a:t>13,</a:t>
            </a:r>
            <a:r>
              <a:rPr lang="fr-FR" dirty="0"/>
              <a:t> 14, 15, 16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117238C-4B22-06AC-B2C2-A4CC6EC95B8E}"/>
              </a:ext>
            </a:extLst>
          </p:cNvPr>
          <p:cNvSpPr txBox="1"/>
          <p:nvPr/>
        </p:nvSpPr>
        <p:spPr>
          <a:xfrm>
            <a:off x="3759708" y="1832982"/>
            <a:ext cx="46725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1, 2, </a:t>
            </a:r>
            <a:r>
              <a:rPr lang="fr-FR" dirty="0">
                <a:solidFill>
                  <a:srgbClr val="FF0000"/>
                </a:solidFill>
              </a:rPr>
              <a:t>3, 4, 5,</a:t>
            </a:r>
            <a:r>
              <a:rPr lang="fr-FR" dirty="0"/>
              <a:t> 6, </a:t>
            </a:r>
            <a:r>
              <a:rPr lang="fr-F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7, </a:t>
            </a:r>
            <a:r>
              <a:rPr lang="fr-FR" dirty="0"/>
              <a:t>8, 9, </a:t>
            </a:r>
            <a:r>
              <a:rPr lang="fr-FR" dirty="0">
                <a:solidFill>
                  <a:srgbClr val="FFC000"/>
                </a:solidFill>
              </a:rPr>
              <a:t>10,</a:t>
            </a:r>
            <a:r>
              <a:rPr lang="fr-FR" dirty="0"/>
              <a:t> 11, </a:t>
            </a:r>
            <a:r>
              <a:rPr lang="fr-FR" dirty="0">
                <a:solidFill>
                  <a:schemeClr val="accent6"/>
                </a:solidFill>
              </a:rPr>
              <a:t>12,</a:t>
            </a:r>
            <a:r>
              <a:rPr lang="fr-FR" dirty="0"/>
              <a:t> </a:t>
            </a:r>
            <a:r>
              <a:rPr lang="fr-FR" dirty="0">
                <a:solidFill>
                  <a:srgbClr val="FFC000"/>
                </a:solidFill>
              </a:rPr>
              <a:t>13,</a:t>
            </a:r>
            <a:r>
              <a:rPr lang="fr-FR" dirty="0"/>
              <a:t> 14, </a:t>
            </a:r>
            <a:r>
              <a:rPr lang="fr-FR" dirty="0">
                <a:solidFill>
                  <a:schemeClr val="accent6"/>
                </a:solidFill>
              </a:rPr>
              <a:t>15,</a:t>
            </a:r>
            <a:r>
              <a:rPr lang="fr-FR" dirty="0"/>
              <a:t> 16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7C0C2E6-79FF-0C93-C0EE-A91AC75C627E}"/>
              </a:ext>
            </a:extLst>
          </p:cNvPr>
          <p:cNvSpPr txBox="1"/>
          <p:nvPr/>
        </p:nvSpPr>
        <p:spPr>
          <a:xfrm>
            <a:off x="3759708" y="2871413"/>
            <a:ext cx="456285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✖  ✖  ✖  ✖  ✖  ✖  ✖  ✖  ✖  ✖  ✖  ✖  ✖  ✖  ✖  ✖</a:t>
            </a:r>
          </a:p>
          <a:p>
            <a:r>
              <a:rPr lang="fr-FR" dirty="0"/>
              <a:t>             </a:t>
            </a:r>
            <a:r>
              <a:rPr lang="fr-FR" dirty="0">
                <a:solidFill>
                  <a:srgbClr val="FF0000"/>
                </a:solidFill>
              </a:rPr>
              <a:t>•   •    •</a:t>
            </a:r>
            <a:r>
              <a:rPr lang="fr-FR" dirty="0"/>
              <a:t>    </a:t>
            </a:r>
            <a:r>
              <a:rPr lang="fr-FR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•                </a:t>
            </a:r>
            <a:r>
              <a:rPr lang="fr-FR" dirty="0">
                <a:solidFill>
                  <a:srgbClr val="FFC000"/>
                </a:solidFill>
              </a:rPr>
              <a:t>•                 •</a:t>
            </a:r>
            <a:r>
              <a:rPr lang="fr-FR" dirty="0"/>
              <a:t>    </a:t>
            </a:r>
          </a:p>
          <a:p>
            <a:r>
              <a:rPr lang="fr-FR" dirty="0"/>
              <a:t>			  </a:t>
            </a:r>
            <a:r>
              <a:rPr lang="fr-FR" dirty="0">
                <a:solidFill>
                  <a:schemeClr val="accent6"/>
                </a:solidFill>
              </a:rPr>
              <a:t>•                     •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BA685A1-210E-1F73-D62C-D361446411CF}"/>
              </a:ext>
            </a:extLst>
          </p:cNvPr>
          <p:cNvSpPr txBox="1"/>
          <p:nvPr/>
        </p:nvSpPr>
        <p:spPr>
          <a:xfrm>
            <a:off x="838200" y="1832982"/>
            <a:ext cx="2720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Représentation classique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59BBF13-1A6B-87BF-8815-EEE67B2D2E32}"/>
              </a:ext>
            </a:extLst>
          </p:cNvPr>
          <p:cNvSpPr txBox="1"/>
          <p:nvPr/>
        </p:nvSpPr>
        <p:spPr>
          <a:xfrm>
            <a:off x="838200" y="3058286"/>
            <a:ext cx="2574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Nouvelle représentation</a:t>
            </a:r>
          </a:p>
        </p:txBody>
      </p:sp>
    </p:spTree>
    <p:extLst>
      <p:ext uri="{BB962C8B-B14F-4D97-AF65-F5344CB8AC3E}">
        <p14:creationId xmlns:p14="http://schemas.microsoft.com/office/powerpoint/2010/main" val="382313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  <p:bldP spid="5" grpId="0" animBg="1"/>
      <p:bldP spid="5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4" grpId="0"/>
      <p:bldP spid="14" grpId="1"/>
      <p:bldP spid="15" grpId="0"/>
      <p:bldP spid="1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F2914-AC04-F726-EFF4-A63E7F630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Rappel sur le delta </a:t>
            </a:r>
            <a:r>
              <a:rPr lang="fr-FR" dirty="0" err="1"/>
              <a:t>debug</a:t>
            </a:r>
            <a:r>
              <a:rPr lang="fr-FR" dirty="0"/>
              <a:t> : Fonction test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7E874AB-BA44-A505-17D8-294A5695FEE4}"/>
              </a:ext>
            </a:extLst>
          </p:cNvPr>
          <p:cNvSpPr txBox="1"/>
          <p:nvPr/>
        </p:nvSpPr>
        <p:spPr>
          <a:xfrm>
            <a:off x="2902457" y="1814138"/>
            <a:ext cx="615581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✖  ✖  ✖  ✖  ✖  ✖  ✖  ✖  ✖  ✖  ✖  ✖  ✖  ✖  ✖</a:t>
            </a:r>
          </a:p>
          <a:p>
            <a:r>
              <a:rPr lang="fr-FR" sz="2400" dirty="0"/>
              <a:t>                   </a:t>
            </a:r>
            <a:r>
              <a:rPr lang="fr-FR" sz="2400" dirty="0">
                <a:solidFill>
                  <a:srgbClr val="FF0000"/>
                </a:solidFill>
              </a:rPr>
              <a:t>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94DB985-5913-74F9-36F5-276EDFE9BD3A}"/>
              </a:ext>
            </a:extLst>
          </p:cNvPr>
          <p:cNvSpPr txBox="1"/>
          <p:nvPr/>
        </p:nvSpPr>
        <p:spPr>
          <a:xfrm>
            <a:off x="2902457" y="1814138"/>
            <a:ext cx="615581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  <a:r>
              <a:rPr lang="fr-FR" sz="2400" dirty="0"/>
              <a:t>  ✖  ✖  ✖  ✖  ✖  ✖  </a:t>
            </a:r>
            <a:r>
              <a:rPr lang="fr-FR" sz="2400" dirty="0">
                <a:solidFill>
                  <a:srgbClr val="B2B2B2"/>
                </a:solidFill>
              </a:rPr>
              <a:t>✖  ✖  ✖  ✖  ✖  ✖  ✖  ✖  ✖</a:t>
            </a:r>
          </a:p>
          <a:p>
            <a:r>
              <a:rPr lang="fr-FR" sz="2400" dirty="0"/>
              <a:t>                   </a:t>
            </a:r>
            <a:r>
              <a:rPr lang="fr-FR" sz="2400" dirty="0">
                <a:solidFill>
                  <a:srgbClr val="FF0000"/>
                </a:solidFill>
              </a:rPr>
              <a:t>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67D8587-5310-6732-9591-235D3E38159E}"/>
              </a:ext>
            </a:extLst>
          </p:cNvPr>
          <p:cNvSpPr txBox="1"/>
          <p:nvPr/>
        </p:nvSpPr>
        <p:spPr>
          <a:xfrm>
            <a:off x="9142666" y="2045059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121A5E0-DD6D-D8A8-F773-3FAAAD1E1D67}"/>
              </a:ext>
            </a:extLst>
          </p:cNvPr>
          <p:cNvSpPr txBox="1"/>
          <p:nvPr/>
        </p:nvSpPr>
        <p:spPr>
          <a:xfrm>
            <a:off x="2902457" y="2999506"/>
            <a:ext cx="615581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  <a:r>
              <a:rPr lang="fr-FR" sz="2400" dirty="0"/>
              <a:t>  ✖  ✖  ✖  </a:t>
            </a:r>
            <a:r>
              <a:rPr lang="fr-FR" sz="2400" dirty="0">
                <a:solidFill>
                  <a:srgbClr val="B2B2B2"/>
                </a:solidFill>
              </a:rPr>
              <a:t>✖  ✖  ✖</a:t>
            </a:r>
            <a:r>
              <a:rPr lang="fr-FR" sz="2400" dirty="0"/>
              <a:t>  </a:t>
            </a:r>
            <a:r>
              <a:rPr lang="fr-FR" sz="2400" dirty="0">
                <a:solidFill>
                  <a:srgbClr val="B2B2B2"/>
                </a:solidFill>
              </a:rPr>
              <a:t>✖  </a:t>
            </a:r>
            <a:r>
              <a:rPr lang="fr-FR" sz="2400" dirty="0"/>
              <a:t>✖  ✖  ✖  ✖  ✖  ✖  ✖  ✖</a:t>
            </a:r>
          </a:p>
          <a:p>
            <a:r>
              <a:rPr lang="fr-FR" sz="2400" dirty="0"/>
              <a:t>                   </a:t>
            </a:r>
            <a:r>
              <a:rPr lang="fr-FR" sz="2400" dirty="0">
                <a:solidFill>
                  <a:srgbClr val="FF0000"/>
                </a:solidFill>
              </a:rPr>
              <a:t>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92D791A-9ACD-7A5B-212D-0B427DAB5E8A}"/>
              </a:ext>
            </a:extLst>
          </p:cNvPr>
          <p:cNvSpPr txBox="1"/>
          <p:nvPr/>
        </p:nvSpPr>
        <p:spPr>
          <a:xfrm>
            <a:off x="9142666" y="3230427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9974C7-22B8-8A90-4EEF-6E89B295DF17}"/>
              </a:ext>
            </a:extLst>
          </p:cNvPr>
          <p:cNvSpPr txBox="1"/>
          <p:nvPr/>
        </p:nvSpPr>
        <p:spPr>
          <a:xfrm>
            <a:off x="2902457" y="4113931"/>
            <a:ext cx="615581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  <a:r>
              <a:rPr lang="fr-FR" sz="2400" dirty="0"/>
              <a:t>  ✖  ✖  ✖  </a:t>
            </a:r>
            <a:r>
              <a:rPr lang="fr-FR" sz="2400" dirty="0">
                <a:solidFill>
                  <a:srgbClr val="B2B2B2"/>
                </a:solidFill>
              </a:rPr>
              <a:t>✖  ✖  ✖</a:t>
            </a:r>
            <a:r>
              <a:rPr lang="fr-FR" sz="2400" dirty="0"/>
              <a:t>  ✖</a:t>
            </a:r>
            <a:r>
              <a:rPr lang="fr-FR" sz="2400" dirty="0">
                <a:solidFill>
                  <a:srgbClr val="B2B2B2"/>
                </a:solidFill>
              </a:rPr>
              <a:t>  </a:t>
            </a:r>
            <a:r>
              <a:rPr lang="fr-FR" sz="2400" dirty="0"/>
              <a:t>✖  ✖  ✖  ✖  ✖  ✖  ✖  ✖</a:t>
            </a:r>
          </a:p>
          <a:p>
            <a:r>
              <a:rPr lang="fr-FR" sz="2400" dirty="0"/>
              <a:t>                   </a:t>
            </a:r>
            <a:r>
              <a:rPr lang="fr-FR" sz="2400" dirty="0">
                <a:solidFill>
                  <a:srgbClr val="FF0000"/>
                </a:solidFill>
              </a:rPr>
              <a:t>•          •         </a:t>
            </a:r>
            <a:r>
              <a:rPr lang="fr-FR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          •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7726EB8-94F6-EABA-263C-E25A7C1E76E4}"/>
              </a:ext>
            </a:extLst>
          </p:cNvPr>
          <p:cNvSpPr txBox="1"/>
          <p:nvPr/>
        </p:nvSpPr>
        <p:spPr>
          <a:xfrm>
            <a:off x="9142666" y="4344852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75CDE60-8B12-6683-CB62-0291551A4A69}"/>
              </a:ext>
            </a:extLst>
          </p:cNvPr>
          <p:cNvSpPr txBox="1"/>
          <p:nvPr/>
        </p:nvSpPr>
        <p:spPr>
          <a:xfrm>
            <a:off x="2902457" y="5228356"/>
            <a:ext cx="615581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  <a:r>
              <a:rPr lang="fr-FR" sz="2400" dirty="0"/>
              <a:t>  ✖  ✖  ✖  </a:t>
            </a:r>
            <a:r>
              <a:rPr lang="fr-FR" sz="2400" dirty="0">
                <a:solidFill>
                  <a:srgbClr val="B2B2B2"/>
                </a:solidFill>
              </a:rPr>
              <a:t>✖  ✖  ✖</a:t>
            </a:r>
            <a:r>
              <a:rPr lang="fr-FR" sz="2400" dirty="0"/>
              <a:t>  ✖</a:t>
            </a:r>
            <a:r>
              <a:rPr lang="fr-FR" sz="2400" dirty="0">
                <a:solidFill>
                  <a:srgbClr val="B2B2B2"/>
                </a:solidFill>
              </a:rPr>
              <a:t>  </a:t>
            </a:r>
            <a:r>
              <a:rPr lang="fr-FR" sz="2400" dirty="0"/>
              <a:t>✖  </a:t>
            </a:r>
            <a:r>
              <a:rPr lang="fr-FR" sz="2400" dirty="0">
                <a:solidFill>
                  <a:srgbClr val="B2B2B2"/>
                </a:solidFill>
              </a:rPr>
              <a:t>✖  ✖  ✖</a:t>
            </a:r>
            <a:r>
              <a:rPr lang="fr-FR" sz="2400" dirty="0"/>
              <a:t>  ✖  ✖  ✖  ✖</a:t>
            </a:r>
          </a:p>
          <a:p>
            <a:r>
              <a:rPr lang="fr-FR" sz="2400" dirty="0"/>
              <a:t>                   </a:t>
            </a:r>
            <a:r>
              <a:rPr lang="fr-FR" sz="2400" dirty="0">
                <a:solidFill>
                  <a:srgbClr val="FF0000"/>
                </a:solidFill>
              </a:rPr>
              <a:t>•          •         </a:t>
            </a:r>
            <a:r>
              <a:rPr lang="fr-FR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          •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2C0661C-FFB3-BCED-90B4-ECA880721F2C}"/>
              </a:ext>
            </a:extLst>
          </p:cNvPr>
          <p:cNvSpPr txBox="1"/>
          <p:nvPr/>
        </p:nvSpPr>
        <p:spPr>
          <a:xfrm>
            <a:off x="9142666" y="5459277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06D14D3-1DF9-A2AC-FA99-591D897CE12E}"/>
              </a:ext>
            </a:extLst>
          </p:cNvPr>
          <p:cNvSpPr txBox="1"/>
          <p:nvPr/>
        </p:nvSpPr>
        <p:spPr>
          <a:xfrm>
            <a:off x="1701209" y="1346044"/>
            <a:ext cx="1977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Ensemble à tester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6092A447-A72C-946D-915F-52E99E34E689}"/>
              </a:ext>
            </a:extLst>
          </p:cNvPr>
          <p:cNvCxnSpPr>
            <a:stCxn id="20" idx="3"/>
          </p:cNvCxnSpPr>
          <p:nvPr/>
        </p:nvCxnSpPr>
        <p:spPr>
          <a:xfrm>
            <a:off x="3679186" y="1530710"/>
            <a:ext cx="605735" cy="28342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0726457-9583-C862-3BEF-A021D1B94271}"/>
              </a:ext>
            </a:extLst>
          </p:cNvPr>
          <p:cNvSpPr/>
          <p:nvPr/>
        </p:nvSpPr>
        <p:spPr>
          <a:xfrm>
            <a:off x="3317358" y="1814138"/>
            <a:ext cx="2254102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82B9A80F-EAB9-FCCB-1EC0-42BB2E21FD12}"/>
              </a:ext>
            </a:extLst>
          </p:cNvPr>
          <p:cNvCxnSpPr/>
          <p:nvPr/>
        </p:nvCxnSpPr>
        <p:spPr>
          <a:xfrm flipH="1">
            <a:off x="9580816" y="1814138"/>
            <a:ext cx="371258" cy="23092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A80D047D-0657-B1D6-348B-2805DE053045}"/>
              </a:ext>
            </a:extLst>
          </p:cNvPr>
          <p:cNvSpPr txBox="1"/>
          <p:nvPr/>
        </p:nvSpPr>
        <p:spPr>
          <a:xfrm>
            <a:off x="9965469" y="1585139"/>
            <a:ext cx="1750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Résultat du test</a:t>
            </a:r>
          </a:p>
        </p:txBody>
      </p:sp>
    </p:spTree>
    <p:extLst>
      <p:ext uri="{BB962C8B-B14F-4D97-AF65-F5344CB8AC3E}">
        <p14:creationId xmlns:p14="http://schemas.microsoft.com/office/powerpoint/2010/main" val="279517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/>
      <p:bldP spid="15" grpId="0" animBg="1"/>
      <p:bldP spid="16" grpId="0"/>
      <p:bldP spid="17" grpId="0" animBg="1"/>
      <p:bldP spid="18" grpId="0"/>
      <p:bldP spid="20" grpId="0"/>
      <p:bldP spid="23" grpId="0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E49427-BF65-A48A-A973-555BD93C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21409" cy="1325563"/>
          </a:xfrm>
        </p:spPr>
        <p:txBody>
          <a:bodyPr/>
          <a:lstStyle/>
          <a:p>
            <a:r>
              <a:rPr lang="fr-FR" dirty="0"/>
              <a:t>Rappel sur le delta </a:t>
            </a:r>
            <a:r>
              <a:rPr lang="fr-FR" dirty="0" err="1"/>
              <a:t>debug</a:t>
            </a:r>
            <a:r>
              <a:rPr lang="fr-FR" dirty="0"/>
              <a:t> : Exemple de déroulé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4A311C-A17F-CADD-0030-3B0B4AA3D489}"/>
              </a:ext>
            </a:extLst>
          </p:cNvPr>
          <p:cNvSpPr txBox="1"/>
          <p:nvPr/>
        </p:nvSpPr>
        <p:spPr>
          <a:xfrm>
            <a:off x="2845307" y="1509426"/>
            <a:ext cx="615581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✖  ✖  ✖  ✖  ✖  ✖  ✖ </a:t>
            </a:r>
            <a:r>
              <a:rPr lang="fr-FR" sz="2400" dirty="0">
                <a:solidFill>
                  <a:srgbClr val="B2B2B2"/>
                </a:solidFill>
              </a:rPr>
              <a:t> ✖  ✖  ✖  ✖  ✖  ✖  ✖  ✖</a:t>
            </a:r>
          </a:p>
          <a:p>
            <a:r>
              <a:rPr lang="fr-FR" sz="2400" dirty="0"/>
              <a:t>                         </a:t>
            </a:r>
            <a:r>
              <a:rPr lang="fr-FR" sz="2400" dirty="0">
                <a:solidFill>
                  <a:srgbClr val="FF0000"/>
                </a:solidFill>
              </a:rPr>
              <a:t>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E04A668-8B82-AFFC-D4EA-291647590945}"/>
              </a:ext>
            </a:extLst>
          </p:cNvPr>
          <p:cNvSpPr txBox="1"/>
          <p:nvPr/>
        </p:nvSpPr>
        <p:spPr>
          <a:xfrm>
            <a:off x="9133141" y="1740259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DDD0704-F333-14D0-C6E4-2537815683BF}"/>
              </a:ext>
            </a:extLst>
          </p:cNvPr>
          <p:cNvSpPr txBox="1"/>
          <p:nvPr/>
        </p:nvSpPr>
        <p:spPr>
          <a:xfrm>
            <a:off x="2845307" y="1510723"/>
            <a:ext cx="615581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  ✖  ✖  ✖  ✖  ✖  ✖  ✖  </a:t>
            </a:r>
            <a:r>
              <a:rPr lang="fr-FR" sz="2400" dirty="0"/>
              <a:t>✖  ✖  ✖  ✖  ✖  ✖  ✖  ✖</a:t>
            </a:r>
          </a:p>
          <a:p>
            <a:r>
              <a:rPr lang="fr-FR" sz="2400" dirty="0"/>
              <a:t>                         </a:t>
            </a:r>
            <a:r>
              <a:rPr lang="fr-FR" sz="2400" dirty="0">
                <a:solidFill>
                  <a:srgbClr val="FF0000"/>
                </a:solidFill>
              </a:rPr>
              <a:t>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0B6BFB8-12E1-790C-A851-1610B7E86315}"/>
              </a:ext>
            </a:extLst>
          </p:cNvPr>
          <p:cNvSpPr txBox="1"/>
          <p:nvPr/>
        </p:nvSpPr>
        <p:spPr>
          <a:xfrm>
            <a:off x="9133141" y="1740259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CA5F90EA-6C02-4019-2377-656BA6FDF6EB}"/>
              </a:ext>
            </a:extLst>
          </p:cNvPr>
          <p:cNvCxnSpPr>
            <a:cxnSpLocks/>
          </p:cNvCxnSpPr>
          <p:nvPr/>
        </p:nvCxnSpPr>
        <p:spPr>
          <a:xfrm flipH="1">
            <a:off x="3270503" y="2463960"/>
            <a:ext cx="902207" cy="6602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5AB01326-D004-7217-6E38-8FE557F9A4B9}"/>
              </a:ext>
            </a:extLst>
          </p:cNvPr>
          <p:cNvCxnSpPr>
            <a:cxnSpLocks/>
          </p:cNvCxnSpPr>
          <p:nvPr/>
        </p:nvCxnSpPr>
        <p:spPr>
          <a:xfrm>
            <a:off x="7689345" y="2463960"/>
            <a:ext cx="759330" cy="6602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9411E824-8A1F-C9A6-4B4A-CE71D976C92B}"/>
              </a:ext>
            </a:extLst>
          </p:cNvPr>
          <p:cNvSpPr txBox="1"/>
          <p:nvPr/>
        </p:nvSpPr>
        <p:spPr>
          <a:xfrm>
            <a:off x="1549907" y="3209349"/>
            <a:ext cx="306019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  ✖  ✖  ✖  ✖  ✖  ✖  ✖ </a:t>
            </a:r>
          </a:p>
          <a:p>
            <a:r>
              <a:rPr lang="fr-FR" sz="2400" dirty="0">
                <a:solidFill>
                  <a:srgbClr val="B2B2B2"/>
                </a:solidFill>
              </a:rPr>
              <a:t>                         </a:t>
            </a:r>
            <a:r>
              <a:rPr lang="fr-FR" sz="2400" dirty="0">
                <a:solidFill>
                  <a:srgbClr val="FF0000"/>
                </a:solidFill>
              </a:rPr>
              <a:t>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25B4E79-F45A-EF60-CF04-80344A18C3BA}"/>
              </a:ext>
            </a:extLst>
          </p:cNvPr>
          <p:cNvSpPr txBox="1"/>
          <p:nvPr/>
        </p:nvSpPr>
        <p:spPr>
          <a:xfrm>
            <a:off x="7360157" y="3209349"/>
            <a:ext cx="306019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  ✖  ✖  ✖  ✖  ✖  ✖  ✖ </a:t>
            </a:r>
          </a:p>
          <a:p>
            <a:r>
              <a:rPr lang="fr-FR" sz="2400" dirty="0">
                <a:solidFill>
                  <a:srgbClr val="B2B2B2"/>
                </a:solidFill>
              </a:rPr>
              <a:t>               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2579EAB3-9B93-2255-39F5-A1B96DA2FEF9}"/>
              </a:ext>
            </a:extLst>
          </p:cNvPr>
          <p:cNvCxnSpPr/>
          <p:nvPr/>
        </p:nvCxnSpPr>
        <p:spPr>
          <a:xfrm>
            <a:off x="8896350" y="4181475"/>
            <a:ext cx="0" cy="8572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565F71F9-2D94-4826-2CF8-607CBACC600B}"/>
              </a:ext>
            </a:extLst>
          </p:cNvPr>
          <p:cNvCxnSpPr/>
          <p:nvPr/>
        </p:nvCxnSpPr>
        <p:spPr>
          <a:xfrm flipH="1">
            <a:off x="1619250" y="4181475"/>
            <a:ext cx="1028700" cy="6000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A462A9F7-7E2A-E4FB-E0BC-4070D2BA20FF}"/>
              </a:ext>
            </a:extLst>
          </p:cNvPr>
          <p:cNvCxnSpPr>
            <a:cxnSpLocks/>
          </p:cNvCxnSpPr>
          <p:nvPr/>
        </p:nvCxnSpPr>
        <p:spPr>
          <a:xfrm>
            <a:off x="3381375" y="4181475"/>
            <a:ext cx="1028700" cy="6000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A5451A55-0CD0-617A-E419-D2C219CD488B}"/>
              </a:ext>
            </a:extLst>
          </p:cNvPr>
          <p:cNvSpPr txBox="1"/>
          <p:nvPr/>
        </p:nvSpPr>
        <p:spPr>
          <a:xfrm>
            <a:off x="1112380" y="4781550"/>
            <a:ext cx="50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∅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B6E55D1-E558-AA6D-27F2-142635F7C18D}"/>
              </a:ext>
            </a:extLst>
          </p:cNvPr>
          <p:cNvSpPr txBox="1"/>
          <p:nvPr/>
        </p:nvSpPr>
        <p:spPr>
          <a:xfrm>
            <a:off x="4410075" y="4610100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…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A1E6179-6703-752D-0C0C-3CC480675B68}"/>
              </a:ext>
            </a:extLst>
          </p:cNvPr>
          <p:cNvSpPr txBox="1"/>
          <p:nvPr/>
        </p:nvSpPr>
        <p:spPr>
          <a:xfrm>
            <a:off x="8626271" y="4994631"/>
            <a:ext cx="50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∅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F412DE8-249D-5B7B-0619-9EEEBB513B05}"/>
              </a:ext>
            </a:extLst>
          </p:cNvPr>
          <p:cNvSpPr txBox="1"/>
          <p:nvPr/>
        </p:nvSpPr>
        <p:spPr>
          <a:xfrm>
            <a:off x="1549907" y="3209349"/>
            <a:ext cx="306019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✖  ✖  ✖  </a:t>
            </a:r>
            <a:r>
              <a:rPr lang="fr-FR" sz="2400" dirty="0">
                <a:solidFill>
                  <a:srgbClr val="B2B2B2"/>
                </a:solidFill>
              </a:rPr>
              <a:t>✖  ✖  ✖  ✖ </a:t>
            </a:r>
          </a:p>
          <a:p>
            <a:r>
              <a:rPr lang="fr-FR" sz="2400" dirty="0">
                <a:solidFill>
                  <a:srgbClr val="B2B2B2"/>
                </a:solidFill>
              </a:rPr>
              <a:t>                         </a:t>
            </a:r>
            <a:r>
              <a:rPr lang="fr-FR" sz="2400" dirty="0">
                <a:solidFill>
                  <a:srgbClr val="FF0000"/>
                </a:solidFill>
              </a:rPr>
              <a:t>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706EC4A-5658-4730-F58A-ACEF7030D96F}"/>
              </a:ext>
            </a:extLst>
          </p:cNvPr>
          <p:cNvSpPr txBox="1"/>
          <p:nvPr/>
        </p:nvSpPr>
        <p:spPr>
          <a:xfrm>
            <a:off x="4726609" y="3438633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FA635C5-81D4-8FB1-1194-531078AE757E}"/>
              </a:ext>
            </a:extLst>
          </p:cNvPr>
          <p:cNvSpPr txBox="1"/>
          <p:nvPr/>
        </p:nvSpPr>
        <p:spPr>
          <a:xfrm>
            <a:off x="1549907" y="3209349"/>
            <a:ext cx="306019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  ✖  ✖  ✖</a:t>
            </a:r>
            <a:r>
              <a:rPr lang="fr-FR" sz="2400" dirty="0"/>
              <a:t>  ✖  ✖  ✖  ✖ </a:t>
            </a:r>
          </a:p>
          <a:p>
            <a:r>
              <a:rPr lang="fr-FR" sz="2400" dirty="0">
                <a:solidFill>
                  <a:srgbClr val="B2B2B2"/>
                </a:solidFill>
              </a:rPr>
              <a:t>                         </a:t>
            </a:r>
            <a:r>
              <a:rPr lang="fr-FR" sz="2400" dirty="0">
                <a:solidFill>
                  <a:srgbClr val="FF0000"/>
                </a:solidFill>
              </a:rPr>
              <a:t>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3DE0694-CB23-6FDD-6794-E1D9D1947A37}"/>
              </a:ext>
            </a:extLst>
          </p:cNvPr>
          <p:cNvSpPr txBox="1"/>
          <p:nvPr/>
        </p:nvSpPr>
        <p:spPr>
          <a:xfrm>
            <a:off x="4726609" y="3438633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EF483DF-55E4-6C8C-7EF0-1702601ABFF0}"/>
              </a:ext>
            </a:extLst>
          </p:cNvPr>
          <p:cNvSpPr txBox="1"/>
          <p:nvPr/>
        </p:nvSpPr>
        <p:spPr>
          <a:xfrm>
            <a:off x="0" y="1294586"/>
            <a:ext cx="2629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On teste d’abord un coté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37D48BC1-854E-CCE9-6E5D-D875CC9C09B1}"/>
              </a:ext>
            </a:extLst>
          </p:cNvPr>
          <p:cNvCxnSpPr>
            <a:stCxn id="34" idx="3"/>
          </p:cNvCxnSpPr>
          <p:nvPr/>
        </p:nvCxnSpPr>
        <p:spPr>
          <a:xfrm>
            <a:off x="2629310" y="1479252"/>
            <a:ext cx="1644978" cy="10499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05D1DF96-CC29-D800-C749-702357AFDDC2}"/>
              </a:ext>
            </a:extLst>
          </p:cNvPr>
          <p:cNvSpPr txBox="1"/>
          <p:nvPr/>
        </p:nvSpPr>
        <p:spPr>
          <a:xfrm>
            <a:off x="9467817" y="1166598"/>
            <a:ext cx="1282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Puis l’autre</a:t>
            </a:r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EF4427B-0AF6-6F7D-9C44-E4F131FACCEC}"/>
              </a:ext>
            </a:extLst>
          </p:cNvPr>
          <p:cNvCxnSpPr>
            <a:stCxn id="37" idx="1"/>
          </p:cNvCxnSpPr>
          <p:nvPr/>
        </p:nvCxnSpPr>
        <p:spPr>
          <a:xfrm flipH="1">
            <a:off x="7612912" y="1351264"/>
            <a:ext cx="1854905" cy="232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5AF80931-D997-FCF2-2ABF-10169C4861BE}"/>
              </a:ext>
            </a:extLst>
          </p:cNvPr>
          <p:cNvSpPr txBox="1"/>
          <p:nvPr/>
        </p:nvSpPr>
        <p:spPr>
          <a:xfrm>
            <a:off x="9467817" y="5235841"/>
            <a:ext cx="2384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Renvoie le vide car</a:t>
            </a:r>
          </a:p>
          <a:p>
            <a:pPr algn="ctr"/>
            <a:r>
              <a:rPr lang="fr-FR" dirty="0">
                <a:solidFill>
                  <a:srgbClr val="00B0F0"/>
                </a:solidFill>
              </a:rPr>
              <a:t> l’ensemble ne fail pas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34AC84E7-0999-D4E7-1483-19662C2E6C0A}"/>
              </a:ext>
            </a:extLst>
          </p:cNvPr>
          <p:cNvSpPr txBox="1"/>
          <p:nvPr/>
        </p:nvSpPr>
        <p:spPr>
          <a:xfrm>
            <a:off x="3594445" y="5430014"/>
            <a:ext cx="288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On continue récursivement</a:t>
            </a:r>
          </a:p>
        </p:txBody>
      </p:sp>
    </p:spTree>
    <p:extLst>
      <p:ext uri="{BB962C8B-B14F-4D97-AF65-F5344CB8AC3E}">
        <p14:creationId xmlns:p14="http://schemas.microsoft.com/office/powerpoint/2010/main" val="24747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0" grpId="0"/>
      <p:bldP spid="16" grpId="0" animBg="1"/>
      <p:bldP spid="16" grpId="1" animBg="1"/>
      <p:bldP spid="21" grpId="0" animBg="1"/>
      <p:bldP spid="27" grpId="0"/>
      <p:bldP spid="28" grpId="0"/>
      <p:bldP spid="29" grpId="0"/>
      <p:bldP spid="30" grpId="0" animBg="1"/>
      <p:bldP spid="30" grpId="1" animBg="1"/>
      <p:bldP spid="31" grpId="0"/>
      <p:bldP spid="31" grpId="1"/>
      <p:bldP spid="32" grpId="0" animBg="1"/>
      <p:bldP spid="33" grpId="0"/>
      <p:bldP spid="34" grpId="0"/>
      <p:bldP spid="37" grpId="0"/>
      <p:bldP spid="37" grpId="1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A5624C-AD6C-EEB9-8092-C4CC29A8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 : Rappel sur le delta </a:t>
            </a:r>
            <a:r>
              <a:rPr lang="fr-FR" dirty="0" err="1"/>
              <a:t>debug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F44CFE5-3A47-DE0C-28F5-D1729522731B}"/>
              </a:ext>
            </a:extLst>
          </p:cNvPr>
          <p:cNvSpPr txBox="1"/>
          <p:nvPr/>
        </p:nvSpPr>
        <p:spPr>
          <a:xfrm>
            <a:off x="5292851" y="1430225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✖  </a:t>
            </a:r>
            <a:r>
              <a:rPr lang="fr-FR" sz="2400" dirty="0">
                <a:solidFill>
                  <a:srgbClr val="B2B2B2"/>
                </a:solidFill>
              </a:rPr>
              <a:t>✖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CA21308-712B-0646-B7DC-4CA6830E6629}"/>
              </a:ext>
            </a:extLst>
          </p:cNvPr>
          <p:cNvSpPr txBox="1"/>
          <p:nvPr/>
        </p:nvSpPr>
        <p:spPr>
          <a:xfrm>
            <a:off x="7054596" y="1661057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C9D6E29-C972-61AC-A28D-128208E58992}"/>
              </a:ext>
            </a:extLst>
          </p:cNvPr>
          <p:cNvSpPr txBox="1"/>
          <p:nvPr/>
        </p:nvSpPr>
        <p:spPr>
          <a:xfrm>
            <a:off x="5292851" y="1430225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  ✖  </a:t>
            </a:r>
            <a:r>
              <a:rPr lang="fr-FR" sz="2400" dirty="0"/>
              <a:t>✖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AA60307-008A-3930-01A5-A5B85E46612C}"/>
              </a:ext>
            </a:extLst>
          </p:cNvPr>
          <p:cNvSpPr txBox="1"/>
          <p:nvPr/>
        </p:nvSpPr>
        <p:spPr>
          <a:xfrm>
            <a:off x="7054596" y="1661057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931C8530-1E15-5DEB-97DC-95D1C91AEFDF}"/>
              </a:ext>
            </a:extLst>
          </p:cNvPr>
          <p:cNvCxnSpPr/>
          <p:nvPr/>
        </p:nvCxnSpPr>
        <p:spPr>
          <a:xfrm flipH="1">
            <a:off x="1457325" y="2377020"/>
            <a:ext cx="3911726" cy="609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80BA4C4-E85C-6512-7FB8-67445175C6E4}"/>
              </a:ext>
            </a:extLst>
          </p:cNvPr>
          <p:cNvCxnSpPr>
            <a:cxnSpLocks/>
          </p:cNvCxnSpPr>
          <p:nvPr/>
        </p:nvCxnSpPr>
        <p:spPr>
          <a:xfrm>
            <a:off x="6867525" y="2382315"/>
            <a:ext cx="3911726" cy="609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57A0FBE8-7FBF-0948-58FA-448D80A4B2AD}"/>
              </a:ext>
            </a:extLst>
          </p:cNvPr>
          <p:cNvCxnSpPr>
            <a:cxnSpLocks/>
          </p:cNvCxnSpPr>
          <p:nvPr/>
        </p:nvCxnSpPr>
        <p:spPr>
          <a:xfrm flipH="1">
            <a:off x="4581525" y="2449423"/>
            <a:ext cx="1225676" cy="5371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00D07BD5-27CC-4F05-7BD8-8141481EE39A}"/>
              </a:ext>
            </a:extLst>
          </p:cNvPr>
          <p:cNvCxnSpPr>
            <a:cxnSpLocks/>
          </p:cNvCxnSpPr>
          <p:nvPr/>
        </p:nvCxnSpPr>
        <p:spPr>
          <a:xfrm>
            <a:off x="6405562" y="2453220"/>
            <a:ext cx="1157288" cy="5334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025A0E7E-BFF3-E4FE-ECB0-8073D9B20187}"/>
              </a:ext>
            </a:extLst>
          </p:cNvPr>
          <p:cNvSpPr txBox="1"/>
          <p:nvPr/>
        </p:nvSpPr>
        <p:spPr>
          <a:xfrm>
            <a:off x="1266825" y="3135223"/>
            <a:ext cx="381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</a:p>
          <a:p>
            <a:endParaRPr lang="fr-FR" sz="2400" dirty="0">
              <a:solidFill>
                <a:srgbClr val="B2B2B2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26A601B-4C16-9126-BE7D-3DC86008AF75}"/>
              </a:ext>
            </a:extLst>
          </p:cNvPr>
          <p:cNvSpPr txBox="1"/>
          <p:nvPr/>
        </p:nvSpPr>
        <p:spPr>
          <a:xfrm>
            <a:off x="4391405" y="3135223"/>
            <a:ext cx="381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•</a:t>
            </a:r>
            <a:endParaRPr lang="fr-FR" sz="2400" dirty="0">
              <a:solidFill>
                <a:srgbClr val="B2B2B2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D283206-E966-4497-9507-EFB14C0B61AB}"/>
              </a:ext>
            </a:extLst>
          </p:cNvPr>
          <p:cNvSpPr txBox="1"/>
          <p:nvPr/>
        </p:nvSpPr>
        <p:spPr>
          <a:xfrm>
            <a:off x="7372350" y="3113008"/>
            <a:ext cx="381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</a:p>
          <a:p>
            <a:endParaRPr lang="fr-FR" sz="2400" dirty="0">
              <a:solidFill>
                <a:srgbClr val="B2B2B2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AF6E254-6E13-7D48-6253-5482284B9225}"/>
              </a:ext>
            </a:extLst>
          </p:cNvPr>
          <p:cNvSpPr txBox="1"/>
          <p:nvPr/>
        </p:nvSpPr>
        <p:spPr>
          <a:xfrm>
            <a:off x="10588751" y="3113008"/>
            <a:ext cx="381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•</a:t>
            </a:r>
            <a:endParaRPr lang="fr-FR" sz="2400" dirty="0">
              <a:solidFill>
                <a:srgbClr val="B2B2B2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99D554F-A94A-B1F2-86E2-4683032CD330}"/>
              </a:ext>
            </a:extLst>
          </p:cNvPr>
          <p:cNvSpPr txBox="1"/>
          <p:nvPr/>
        </p:nvSpPr>
        <p:spPr>
          <a:xfrm>
            <a:off x="654176" y="3120866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✖  ✖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4147DBF-FC95-B352-C716-4B873FF9F7BE}"/>
              </a:ext>
            </a:extLst>
          </p:cNvPr>
          <p:cNvSpPr txBox="1"/>
          <p:nvPr/>
        </p:nvSpPr>
        <p:spPr>
          <a:xfrm>
            <a:off x="3778376" y="3120866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✖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DF7DAFF-88F9-EE04-B86D-878C1215163F}"/>
              </a:ext>
            </a:extLst>
          </p:cNvPr>
          <p:cNvSpPr txBox="1"/>
          <p:nvPr/>
        </p:nvSpPr>
        <p:spPr>
          <a:xfrm>
            <a:off x="6761605" y="3120866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73E9B28-A0A6-E9DD-8E84-863ABAE93C00}"/>
              </a:ext>
            </a:extLst>
          </p:cNvPr>
          <p:cNvSpPr txBox="1"/>
          <p:nvPr/>
        </p:nvSpPr>
        <p:spPr>
          <a:xfrm>
            <a:off x="9976102" y="3135223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✖  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6FA3830-3A33-4C1C-CE58-15C2C5D5D5D9}"/>
              </a:ext>
            </a:extLst>
          </p:cNvPr>
          <p:cNvSpPr txBox="1"/>
          <p:nvPr/>
        </p:nvSpPr>
        <p:spPr>
          <a:xfrm>
            <a:off x="5369051" y="3351698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8B878DF5-9E7A-481B-E89C-9451F78C5843}"/>
              </a:ext>
            </a:extLst>
          </p:cNvPr>
          <p:cNvSpPr txBox="1"/>
          <p:nvPr/>
        </p:nvSpPr>
        <p:spPr>
          <a:xfrm>
            <a:off x="2229802" y="3343840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3E2E352-0EB8-C0A7-B18D-251AE477A247}"/>
              </a:ext>
            </a:extLst>
          </p:cNvPr>
          <p:cNvSpPr txBox="1"/>
          <p:nvPr/>
        </p:nvSpPr>
        <p:spPr>
          <a:xfrm>
            <a:off x="8364095" y="3366055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82CAF7A3-7C0F-3732-1830-BC57499FAD01}"/>
              </a:ext>
            </a:extLst>
          </p:cNvPr>
          <p:cNvSpPr txBox="1"/>
          <p:nvPr/>
        </p:nvSpPr>
        <p:spPr>
          <a:xfrm>
            <a:off x="11537824" y="3351698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8FECEA7F-FD00-76C8-E949-612E265B2E45}"/>
              </a:ext>
            </a:extLst>
          </p:cNvPr>
          <p:cNvCxnSpPr>
            <a:cxnSpLocks/>
          </p:cNvCxnSpPr>
          <p:nvPr/>
        </p:nvCxnSpPr>
        <p:spPr>
          <a:xfrm>
            <a:off x="4581524" y="4119561"/>
            <a:ext cx="0" cy="771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65387C1B-BCF0-A8B4-02BB-7A051503ABDF}"/>
              </a:ext>
            </a:extLst>
          </p:cNvPr>
          <p:cNvCxnSpPr>
            <a:cxnSpLocks/>
          </p:cNvCxnSpPr>
          <p:nvPr/>
        </p:nvCxnSpPr>
        <p:spPr>
          <a:xfrm>
            <a:off x="1457324" y="4119561"/>
            <a:ext cx="0" cy="771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9F0C81B5-8A6D-7B4C-C657-EB0480C94E46}"/>
              </a:ext>
            </a:extLst>
          </p:cNvPr>
          <p:cNvCxnSpPr>
            <a:cxnSpLocks/>
          </p:cNvCxnSpPr>
          <p:nvPr/>
        </p:nvCxnSpPr>
        <p:spPr>
          <a:xfrm>
            <a:off x="7562850" y="4110037"/>
            <a:ext cx="0" cy="771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2590CA13-6079-C519-7CFE-9FF36CB787BE}"/>
              </a:ext>
            </a:extLst>
          </p:cNvPr>
          <p:cNvCxnSpPr>
            <a:cxnSpLocks/>
          </p:cNvCxnSpPr>
          <p:nvPr/>
        </p:nvCxnSpPr>
        <p:spPr>
          <a:xfrm>
            <a:off x="10811250" y="4110036"/>
            <a:ext cx="0" cy="771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71BAC7F3-92D1-114B-2E9C-9FD831553AE4}"/>
              </a:ext>
            </a:extLst>
          </p:cNvPr>
          <p:cNvSpPr txBox="1"/>
          <p:nvPr/>
        </p:nvSpPr>
        <p:spPr>
          <a:xfrm>
            <a:off x="4328089" y="4891086"/>
            <a:ext cx="50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∅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344A1CE9-BB77-6B69-1AEF-DE2BDBEE3993}"/>
              </a:ext>
            </a:extLst>
          </p:cNvPr>
          <p:cNvSpPr txBox="1"/>
          <p:nvPr/>
        </p:nvSpPr>
        <p:spPr>
          <a:xfrm>
            <a:off x="10588751" y="4891086"/>
            <a:ext cx="50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∅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57D34458-E4C1-078A-6D4F-D6EC203ED695}"/>
              </a:ext>
            </a:extLst>
          </p:cNvPr>
          <p:cNvSpPr txBox="1"/>
          <p:nvPr/>
        </p:nvSpPr>
        <p:spPr>
          <a:xfrm>
            <a:off x="7273671" y="4624237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…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5CFD9F3F-00BC-0F21-C1BD-82CC803977DD}"/>
              </a:ext>
            </a:extLst>
          </p:cNvPr>
          <p:cNvSpPr txBox="1"/>
          <p:nvPr/>
        </p:nvSpPr>
        <p:spPr>
          <a:xfrm>
            <a:off x="1096379" y="4624237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…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254776E0-EB2F-8F17-8E96-17F844249303}"/>
              </a:ext>
            </a:extLst>
          </p:cNvPr>
          <p:cNvSpPr/>
          <p:nvPr/>
        </p:nvSpPr>
        <p:spPr>
          <a:xfrm>
            <a:off x="6405568" y="2539763"/>
            <a:ext cx="2525833" cy="315959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33FA96F8-2D1B-C991-53CF-2E210DE06309}"/>
              </a:ext>
            </a:extLst>
          </p:cNvPr>
          <p:cNvSpPr txBox="1"/>
          <p:nvPr/>
        </p:nvSpPr>
        <p:spPr>
          <a:xfrm>
            <a:off x="-148899" y="3205340"/>
            <a:ext cx="1473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On subdivise</a:t>
            </a:r>
          </a:p>
          <a:p>
            <a:pPr algn="ctr"/>
            <a:r>
              <a:rPr lang="fr-FR" dirty="0">
                <a:solidFill>
                  <a:srgbClr val="00B0F0"/>
                </a:solidFill>
              </a:rPr>
              <a:t>encore :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3EEF4F8A-0A48-A160-4107-803DF9EE9B14}"/>
              </a:ext>
            </a:extLst>
          </p:cNvPr>
          <p:cNvSpPr txBox="1"/>
          <p:nvPr/>
        </p:nvSpPr>
        <p:spPr>
          <a:xfrm>
            <a:off x="293257" y="1766624"/>
            <a:ext cx="1947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On prend le</a:t>
            </a:r>
          </a:p>
          <a:p>
            <a:pPr algn="ctr"/>
            <a:r>
              <a:rPr lang="fr-FR" dirty="0">
                <a:solidFill>
                  <a:srgbClr val="00B0F0"/>
                </a:solidFill>
              </a:rPr>
              <a:t>complémentaire :</a:t>
            </a:r>
          </a:p>
        </p:txBody>
      </p:sp>
      <p:cxnSp>
        <p:nvCxnSpPr>
          <p:cNvPr id="57" name="Connecteur : en arc 56">
            <a:extLst>
              <a:ext uri="{FF2B5EF4-FFF2-40B4-BE49-F238E27FC236}">
                <a16:creationId xmlns:a16="http://schemas.microsoft.com/office/drawing/2014/main" id="{1E025DCF-8542-1B2B-D6FB-77F9F7C076A7}"/>
              </a:ext>
            </a:extLst>
          </p:cNvPr>
          <p:cNvCxnSpPr>
            <a:cxnSpLocks/>
            <a:stCxn id="6" idx="1"/>
            <a:endCxn id="25" idx="0"/>
          </p:cNvCxnSpPr>
          <p:nvPr/>
        </p:nvCxnSpPr>
        <p:spPr>
          <a:xfrm rot="10800000" flipV="1">
            <a:off x="1457325" y="1845724"/>
            <a:ext cx="3835526" cy="1275142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Ellipse 57">
            <a:extLst>
              <a:ext uri="{FF2B5EF4-FFF2-40B4-BE49-F238E27FC236}">
                <a16:creationId xmlns:a16="http://schemas.microsoft.com/office/drawing/2014/main" id="{3BF89D04-7C71-A53C-4576-F3F9DE3D8480}"/>
              </a:ext>
            </a:extLst>
          </p:cNvPr>
          <p:cNvSpPr/>
          <p:nvPr/>
        </p:nvSpPr>
        <p:spPr>
          <a:xfrm>
            <a:off x="5292851" y="1441790"/>
            <a:ext cx="422528" cy="39470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08CA8778-0F7A-A221-CD28-97146D7F6DEA}"/>
              </a:ext>
            </a:extLst>
          </p:cNvPr>
          <p:cNvSpPr/>
          <p:nvPr/>
        </p:nvSpPr>
        <p:spPr>
          <a:xfrm>
            <a:off x="663077" y="3133796"/>
            <a:ext cx="422528" cy="39470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82722D39-1B46-1BFC-112B-AE82E8BFA80D}"/>
              </a:ext>
            </a:extLst>
          </p:cNvPr>
          <p:cNvSpPr txBox="1"/>
          <p:nvPr/>
        </p:nvSpPr>
        <p:spPr>
          <a:xfrm>
            <a:off x="5259013" y="5835491"/>
            <a:ext cx="4988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Terminons la récursion en regardant celui là</a:t>
            </a:r>
          </a:p>
        </p:txBody>
      </p:sp>
    </p:spTree>
    <p:extLst>
      <p:ext uri="{BB962C8B-B14F-4D97-AF65-F5344CB8AC3E}">
        <p14:creationId xmlns:p14="http://schemas.microsoft.com/office/powerpoint/2010/main" val="1486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7.40741E-7 L -0.12044 -0.2463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29" y="-12315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5" grpId="1"/>
      <p:bldP spid="6" grpId="0" animBg="1"/>
      <p:bldP spid="6" grpId="1" animBg="1"/>
      <p:bldP spid="7" grpId="0"/>
      <p:bldP spid="7" grpId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/>
      <p:bldP spid="29" grpId="1"/>
      <p:bldP spid="31" grpId="0"/>
      <p:bldP spid="31" grpId="1"/>
      <p:bldP spid="32" grpId="0"/>
      <p:bldP spid="32" grpId="1"/>
      <p:bldP spid="36" grpId="0"/>
      <p:bldP spid="36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8" grpId="0" animBg="1"/>
      <p:bldP spid="48" grpId="1" animBg="1"/>
      <p:bldP spid="49" grpId="0"/>
      <p:bldP spid="49" grpId="1"/>
      <p:bldP spid="49" grpId="2"/>
      <p:bldP spid="50" grpId="0"/>
      <p:bldP spid="50" grpId="1"/>
      <p:bldP spid="58" grpId="0" animBg="1"/>
      <p:bldP spid="58" grpId="1" animBg="1"/>
      <p:bldP spid="59" grpId="0" animBg="1"/>
      <p:bldP spid="59" grpId="1" animBg="1"/>
      <p:bldP spid="61" grpId="0"/>
      <p:bldP spid="6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98D8CC-3C75-C2CA-99D1-4575B1382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 : Rappel sur le delta </a:t>
            </a:r>
            <a:r>
              <a:rPr lang="fr-FR" dirty="0" err="1"/>
              <a:t>debug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FA06BFD-2B69-D9DB-A56C-543287358D1A}"/>
              </a:ext>
            </a:extLst>
          </p:cNvPr>
          <p:cNvSpPr txBox="1"/>
          <p:nvPr/>
        </p:nvSpPr>
        <p:spPr>
          <a:xfrm>
            <a:off x="5292851" y="1275189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8229FD4-EE40-AE3F-B218-06F498D74CC4}"/>
              </a:ext>
            </a:extLst>
          </p:cNvPr>
          <p:cNvCxnSpPr/>
          <p:nvPr/>
        </p:nvCxnSpPr>
        <p:spPr>
          <a:xfrm flipH="1">
            <a:off x="2073401" y="2269608"/>
            <a:ext cx="3219450" cy="52387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91292449-11FC-7D41-F6FC-B425409AD184}"/>
              </a:ext>
            </a:extLst>
          </p:cNvPr>
          <p:cNvCxnSpPr>
            <a:cxnSpLocks/>
          </p:cNvCxnSpPr>
          <p:nvPr/>
        </p:nvCxnSpPr>
        <p:spPr>
          <a:xfrm>
            <a:off x="6899149" y="2269608"/>
            <a:ext cx="3435476" cy="52387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390C933F-AE56-BDBE-DD83-DF16F4F39BDF}"/>
              </a:ext>
            </a:extLst>
          </p:cNvPr>
          <p:cNvSpPr txBox="1"/>
          <p:nvPr/>
        </p:nvSpPr>
        <p:spPr>
          <a:xfrm>
            <a:off x="5292851" y="1275189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</a:t>
            </a:r>
            <a:r>
              <a:rPr lang="fr-FR" sz="2400" dirty="0">
                <a:solidFill>
                  <a:srgbClr val="B2B2B2"/>
                </a:solidFill>
              </a:rPr>
              <a:t>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65F9C5C-C5EF-8B90-7DDF-72E9AD15CCCC}"/>
              </a:ext>
            </a:extLst>
          </p:cNvPr>
          <p:cNvSpPr txBox="1"/>
          <p:nvPr/>
        </p:nvSpPr>
        <p:spPr>
          <a:xfrm>
            <a:off x="5292851" y="1283642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  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9BF11C0-B577-BA41-00C8-C0B755CD84F9}"/>
              </a:ext>
            </a:extLst>
          </p:cNvPr>
          <p:cNvSpPr txBox="1"/>
          <p:nvPr/>
        </p:nvSpPr>
        <p:spPr>
          <a:xfrm>
            <a:off x="6986587" y="1506021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60B1163-671E-F9F0-6A9C-964D227B47F1}"/>
              </a:ext>
            </a:extLst>
          </p:cNvPr>
          <p:cNvSpPr txBox="1"/>
          <p:nvPr/>
        </p:nvSpPr>
        <p:spPr>
          <a:xfrm>
            <a:off x="6986587" y="1514474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828AB827-262D-161F-DE7E-AD95AFF14DF9}"/>
              </a:ext>
            </a:extLst>
          </p:cNvPr>
          <p:cNvCxnSpPr>
            <a:cxnSpLocks/>
          </p:cNvCxnSpPr>
          <p:nvPr/>
        </p:nvCxnSpPr>
        <p:spPr>
          <a:xfrm flipH="1">
            <a:off x="4953000" y="2338859"/>
            <a:ext cx="1047750" cy="45462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EA7AC707-7C3F-D56E-DE8E-27F0C494BE7F}"/>
              </a:ext>
            </a:extLst>
          </p:cNvPr>
          <p:cNvSpPr txBox="1"/>
          <p:nvPr/>
        </p:nvSpPr>
        <p:spPr>
          <a:xfrm>
            <a:off x="1882901" y="2948451"/>
            <a:ext cx="381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</a:p>
          <a:p>
            <a:endParaRPr lang="fr-FR" sz="2400" dirty="0">
              <a:solidFill>
                <a:srgbClr val="B2B2B2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ECEF411-4A35-75C5-783C-C93D665633A8}"/>
              </a:ext>
            </a:extLst>
          </p:cNvPr>
          <p:cNvSpPr txBox="1"/>
          <p:nvPr/>
        </p:nvSpPr>
        <p:spPr>
          <a:xfrm>
            <a:off x="4762500" y="2948450"/>
            <a:ext cx="381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•</a:t>
            </a:r>
            <a:endParaRPr lang="fr-FR" sz="2400" dirty="0">
              <a:solidFill>
                <a:srgbClr val="B2B2B2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32E6043-2D88-FFA0-A84F-F4B3FE0F8072}"/>
              </a:ext>
            </a:extLst>
          </p:cNvPr>
          <p:cNvSpPr txBox="1"/>
          <p:nvPr/>
        </p:nvSpPr>
        <p:spPr>
          <a:xfrm>
            <a:off x="10144125" y="2948449"/>
            <a:ext cx="381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•</a:t>
            </a:r>
            <a:endParaRPr lang="fr-FR" sz="2400" dirty="0">
              <a:solidFill>
                <a:srgbClr val="B2B2B2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715EFAD-CE8C-1E96-FDBD-499DE36841D3}"/>
              </a:ext>
            </a:extLst>
          </p:cNvPr>
          <p:cNvSpPr txBox="1"/>
          <p:nvPr/>
        </p:nvSpPr>
        <p:spPr>
          <a:xfrm>
            <a:off x="1270252" y="2948448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65C095E-9560-7FE7-4326-52A4AEF1F558}"/>
              </a:ext>
            </a:extLst>
          </p:cNvPr>
          <p:cNvSpPr txBox="1"/>
          <p:nvPr/>
        </p:nvSpPr>
        <p:spPr>
          <a:xfrm>
            <a:off x="4149851" y="2948447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836A2BA-C771-47B6-CAAC-A56CF3A6AD47}"/>
              </a:ext>
            </a:extLst>
          </p:cNvPr>
          <p:cNvSpPr txBox="1"/>
          <p:nvPr/>
        </p:nvSpPr>
        <p:spPr>
          <a:xfrm>
            <a:off x="9531476" y="2948447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EE1C645-844A-328A-8FAB-AE753B040B3A}"/>
              </a:ext>
            </a:extLst>
          </p:cNvPr>
          <p:cNvSpPr txBox="1"/>
          <p:nvPr/>
        </p:nvSpPr>
        <p:spPr>
          <a:xfrm>
            <a:off x="5754624" y="3174575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8174B0E-7AE9-1469-E03A-E06AEA449BDE}"/>
              </a:ext>
            </a:extLst>
          </p:cNvPr>
          <p:cNvSpPr txBox="1"/>
          <p:nvPr/>
        </p:nvSpPr>
        <p:spPr>
          <a:xfrm>
            <a:off x="11134725" y="3174575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3798EC5-B5BA-8C77-26F2-799B2A9BC286}"/>
              </a:ext>
            </a:extLst>
          </p:cNvPr>
          <p:cNvSpPr txBox="1"/>
          <p:nvPr/>
        </p:nvSpPr>
        <p:spPr>
          <a:xfrm>
            <a:off x="2855975" y="3174575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A6DBC5A9-7278-443B-DCB6-56A4F29C95BA}"/>
              </a:ext>
            </a:extLst>
          </p:cNvPr>
          <p:cNvCxnSpPr>
            <a:cxnSpLocks/>
          </p:cNvCxnSpPr>
          <p:nvPr/>
        </p:nvCxnSpPr>
        <p:spPr>
          <a:xfrm>
            <a:off x="10366624" y="3934408"/>
            <a:ext cx="0" cy="771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E35D01DF-A08B-84EC-91AD-E701A5742057}"/>
              </a:ext>
            </a:extLst>
          </p:cNvPr>
          <p:cNvSpPr txBox="1"/>
          <p:nvPr/>
        </p:nvSpPr>
        <p:spPr>
          <a:xfrm>
            <a:off x="10144125" y="4715458"/>
            <a:ext cx="50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∅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23ED7F95-778F-6654-0CB7-8B1151973D35}"/>
              </a:ext>
            </a:extLst>
          </p:cNvPr>
          <p:cNvCxnSpPr>
            <a:cxnSpLocks/>
          </p:cNvCxnSpPr>
          <p:nvPr/>
        </p:nvCxnSpPr>
        <p:spPr>
          <a:xfrm>
            <a:off x="4984999" y="3899927"/>
            <a:ext cx="0" cy="771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F112526F-D16B-7D53-3C63-4B73DE88C8FD}"/>
              </a:ext>
            </a:extLst>
          </p:cNvPr>
          <p:cNvSpPr txBox="1"/>
          <p:nvPr/>
        </p:nvSpPr>
        <p:spPr>
          <a:xfrm>
            <a:off x="4762500" y="4680977"/>
            <a:ext cx="50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∅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2C9F95BB-3D37-CC39-8C04-5BF5DFB8237E}"/>
              </a:ext>
            </a:extLst>
          </p:cNvPr>
          <p:cNvCxnSpPr>
            <a:cxnSpLocks/>
          </p:cNvCxnSpPr>
          <p:nvPr/>
        </p:nvCxnSpPr>
        <p:spPr>
          <a:xfrm flipH="1">
            <a:off x="1362838" y="3897661"/>
            <a:ext cx="520063" cy="2112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B8AC9460-2315-F4DF-C7FD-FBB7A227F13E}"/>
              </a:ext>
            </a:extLst>
          </p:cNvPr>
          <p:cNvSpPr txBox="1"/>
          <p:nvPr/>
        </p:nvSpPr>
        <p:spPr>
          <a:xfrm>
            <a:off x="1172338" y="4203922"/>
            <a:ext cx="381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•</a:t>
            </a:r>
            <a:endParaRPr lang="fr-FR" sz="2400" dirty="0">
              <a:solidFill>
                <a:srgbClr val="B2B2B2"/>
              </a:solidFill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28B6BC4F-4A2D-0299-D460-F709988C39BA}"/>
              </a:ext>
            </a:extLst>
          </p:cNvPr>
          <p:cNvSpPr txBox="1"/>
          <p:nvPr/>
        </p:nvSpPr>
        <p:spPr>
          <a:xfrm>
            <a:off x="2593464" y="4203923"/>
            <a:ext cx="3810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•</a:t>
            </a:r>
            <a:endParaRPr lang="fr-FR" sz="2400" dirty="0">
              <a:solidFill>
                <a:srgbClr val="B2B2B2"/>
              </a:solidFill>
            </a:endParaRP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4957DF42-2DB3-B915-95FA-39C76CBC8A98}"/>
              </a:ext>
            </a:extLst>
          </p:cNvPr>
          <p:cNvCxnSpPr>
            <a:cxnSpLocks/>
          </p:cNvCxnSpPr>
          <p:nvPr/>
        </p:nvCxnSpPr>
        <p:spPr>
          <a:xfrm>
            <a:off x="2263901" y="3897661"/>
            <a:ext cx="520063" cy="2112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4CE280BD-16EF-7ABA-D839-5BA8C1427F7C}"/>
              </a:ext>
            </a:extLst>
          </p:cNvPr>
          <p:cNvCxnSpPr>
            <a:cxnSpLocks/>
          </p:cNvCxnSpPr>
          <p:nvPr/>
        </p:nvCxnSpPr>
        <p:spPr>
          <a:xfrm flipH="1">
            <a:off x="2263900" y="5177609"/>
            <a:ext cx="520063" cy="2112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6CE88F8C-353A-5408-746C-912AE2F68263}"/>
              </a:ext>
            </a:extLst>
          </p:cNvPr>
          <p:cNvCxnSpPr>
            <a:cxnSpLocks/>
          </p:cNvCxnSpPr>
          <p:nvPr/>
        </p:nvCxnSpPr>
        <p:spPr>
          <a:xfrm>
            <a:off x="1293306" y="5171423"/>
            <a:ext cx="520063" cy="2112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37661E61-4DD3-2B35-DFDA-91A91C885E1C}"/>
              </a:ext>
            </a:extLst>
          </p:cNvPr>
          <p:cNvSpPr txBox="1"/>
          <p:nvPr/>
        </p:nvSpPr>
        <p:spPr>
          <a:xfrm>
            <a:off x="1576768" y="4455503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19B4F609-45B9-86B2-ED4C-48030D4C0A65}"/>
              </a:ext>
            </a:extLst>
          </p:cNvPr>
          <p:cNvSpPr txBox="1"/>
          <p:nvPr/>
        </p:nvSpPr>
        <p:spPr>
          <a:xfrm>
            <a:off x="3004758" y="4434754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F1ED9D42-0293-36E3-0F65-19A10BC855CF}"/>
              </a:ext>
            </a:extLst>
          </p:cNvPr>
          <p:cNvSpPr txBox="1"/>
          <p:nvPr/>
        </p:nvSpPr>
        <p:spPr>
          <a:xfrm>
            <a:off x="1249677" y="5471844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</a:t>
            </a:r>
            <a:r>
              <a:rPr lang="fr-FR" sz="2400" dirty="0">
                <a:solidFill>
                  <a:srgbClr val="FF0000"/>
                </a:solidFill>
              </a:rPr>
              <a:t>✖</a:t>
            </a:r>
            <a:r>
              <a:rPr lang="fr-FR" sz="2400" dirty="0"/>
              <a:t>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</a:t>
            </a:r>
            <a:r>
              <a:rPr lang="fr-FR" sz="2400" dirty="0">
                <a:solidFill>
                  <a:srgbClr val="FF0000"/>
                </a:solidFill>
              </a:rPr>
              <a:t>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3E4823D-B862-1986-A75E-1B39903FFFFC}"/>
              </a:ext>
            </a:extLst>
          </p:cNvPr>
          <p:cNvSpPr txBox="1"/>
          <p:nvPr/>
        </p:nvSpPr>
        <p:spPr>
          <a:xfrm>
            <a:off x="1894848" y="1293472"/>
            <a:ext cx="2629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On teste d’abord un coté</a:t>
            </a:r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FBF0F5FF-4B9B-D76F-A9C3-29792F0F18DE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4524158" y="1478138"/>
            <a:ext cx="768693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Ellipse 59">
            <a:extLst>
              <a:ext uri="{FF2B5EF4-FFF2-40B4-BE49-F238E27FC236}">
                <a16:creationId xmlns:a16="http://schemas.microsoft.com/office/drawing/2014/main" id="{5E8A3653-D094-6E36-FEAC-BA8063872BCF}"/>
              </a:ext>
            </a:extLst>
          </p:cNvPr>
          <p:cNvSpPr/>
          <p:nvPr/>
        </p:nvSpPr>
        <p:spPr>
          <a:xfrm>
            <a:off x="5292851" y="1293473"/>
            <a:ext cx="803149" cy="36933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04D9AD8F-CEC9-2F18-E9FE-648C5B1B6E3F}"/>
              </a:ext>
            </a:extLst>
          </p:cNvPr>
          <p:cNvSpPr txBox="1"/>
          <p:nvPr/>
        </p:nvSpPr>
        <p:spPr>
          <a:xfrm>
            <a:off x="7696599" y="1296874"/>
            <a:ext cx="1282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Puis l’autre</a:t>
            </a:r>
          </a:p>
        </p:txBody>
      </p: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37AEED2E-C5FF-2D24-4D81-0AAD25ACB6E0}"/>
              </a:ext>
            </a:extLst>
          </p:cNvPr>
          <p:cNvCxnSpPr>
            <a:cxnSpLocks/>
            <a:stCxn id="61" idx="1"/>
            <a:endCxn id="67" idx="6"/>
          </p:cNvCxnSpPr>
          <p:nvPr/>
        </p:nvCxnSpPr>
        <p:spPr>
          <a:xfrm flipH="1">
            <a:off x="6864693" y="1481540"/>
            <a:ext cx="831906" cy="1230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Ellipse 66">
            <a:extLst>
              <a:ext uri="{FF2B5EF4-FFF2-40B4-BE49-F238E27FC236}">
                <a16:creationId xmlns:a16="http://schemas.microsoft.com/office/drawing/2014/main" id="{1B2FB750-365D-E3BC-D1B1-17E7CB394531}"/>
              </a:ext>
            </a:extLst>
          </p:cNvPr>
          <p:cNvSpPr/>
          <p:nvPr/>
        </p:nvSpPr>
        <p:spPr>
          <a:xfrm>
            <a:off x="6061544" y="1309174"/>
            <a:ext cx="803149" cy="36933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F15AEDA4-70C0-E489-C3EA-FDEA28AADF37}"/>
              </a:ext>
            </a:extLst>
          </p:cNvPr>
          <p:cNvSpPr/>
          <p:nvPr/>
        </p:nvSpPr>
        <p:spPr>
          <a:xfrm>
            <a:off x="6428663" y="1321355"/>
            <a:ext cx="401575" cy="369331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2" name="Connecteur : en arc 71">
            <a:extLst>
              <a:ext uri="{FF2B5EF4-FFF2-40B4-BE49-F238E27FC236}">
                <a16:creationId xmlns:a16="http://schemas.microsoft.com/office/drawing/2014/main" id="{F404BA01-8110-E161-F155-B7FD28E74CC7}"/>
              </a:ext>
            </a:extLst>
          </p:cNvPr>
          <p:cNvCxnSpPr>
            <a:cxnSpLocks/>
            <a:endCxn id="26" idx="0"/>
          </p:cNvCxnSpPr>
          <p:nvPr/>
        </p:nvCxnSpPr>
        <p:spPr>
          <a:xfrm rot="10800000" flipV="1">
            <a:off x="2073401" y="1693678"/>
            <a:ext cx="3232952" cy="1254770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Ellipse 72">
            <a:extLst>
              <a:ext uri="{FF2B5EF4-FFF2-40B4-BE49-F238E27FC236}">
                <a16:creationId xmlns:a16="http://schemas.microsoft.com/office/drawing/2014/main" id="{E5971362-09C9-98BC-DEA2-D3F34581EE87}"/>
              </a:ext>
            </a:extLst>
          </p:cNvPr>
          <p:cNvSpPr/>
          <p:nvPr/>
        </p:nvSpPr>
        <p:spPr>
          <a:xfrm>
            <a:off x="5306353" y="1289744"/>
            <a:ext cx="422528" cy="39470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088E5794-476F-577B-2DC9-4C9AEDA13A0D}"/>
              </a:ext>
            </a:extLst>
          </p:cNvPr>
          <p:cNvSpPr/>
          <p:nvPr/>
        </p:nvSpPr>
        <p:spPr>
          <a:xfrm>
            <a:off x="1270252" y="2971698"/>
            <a:ext cx="422528" cy="39470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46267297-4B79-D75F-E914-756A6E0829C9}"/>
              </a:ext>
            </a:extLst>
          </p:cNvPr>
          <p:cNvSpPr txBox="1"/>
          <p:nvPr/>
        </p:nvSpPr>
        <p:spPr>
          <a:xfrm>
            <a:off x="293257" y="1766624"/>
            <a:ext cx="1947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On prend le</a:t>
            </a:r>
          </a:p>
          <a:p>
            <a:pPr algn="ctr"/>
            <a:r>
              <a:rPr lang="fr-FR" dirty="0">
                <a:solidFill>
                  <a:srgbClr val="00B0F0"/>
                </a:solidFill>
              </a:rPr>
              <a:t>complémentaire :</a:t>
            </a:r>
          </a:p>
        </p:txBody>
      </p:sp>
    </p:spTree>
    <p:extLst>
      <p:ext uri="{BB962C8B-B14F-4D97-AF65-F5344CB8AC3E}">
        <p14:creationId xmlns:p14="http://schemas.microsoft.com/office/powerpoint/2010/main" val="93940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2" grpId="1" animBg="1"/>
      <p:bldP spid="13" grpId="0" animBg="1"/>
      <p:bldP spid="14" grpId="0"/>
      <p:bldP spid="14" grpId="1"/>
      <p:bldP spid="15" grpId="0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5" grpId="0"/>
      <p:bldP spid="37" grpId="0"/>
      <p:bldP spid="45" grpId="0" animBg="1"/>
      <p:bldP spid="46" grpId="0" animBg="1"/>
      <p:bldP spid="53" grpId="0"/>
      <p:bldP spid="54" grpId="0"/>
      <p:bldP spid="55" grpId="0" animBg="1"/>
      <p:bldP spid="56" grpId="0"/>
      <p:bldP spid="56" grpId="1"/>
      <p:bldP spid="60" grpId="0" animBg="1"/>
      <p:bldP spid="60" grpId="1" animBg="1"/>
      <p:bldP spid="61" grpId="0"/>
      <p:bldP spid="67" grpId="0" animBg="1"/>
      <p:bldP spid="67" grpId="1" animBg="1"/>
      <p:bldP spid="70" grpId="0" animBg="1"/>
      <p:bldP spid="73" grpId="0" animBg="1"/>
      <p:bldP spid="74" grpId="0" animBg="1"/>
      <p:bldP spid="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B98C77-8480-C28D-542D-AE78C2DEC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438400" cy="1325563"/>
          </a:xfrm>
        </p:spPr>
        <p:txBody>
          <a:bodyPr/>
          <a:lstStyle/>
          <a:p>
            <a:r>
              <a:rPr lang="fr-FR" dirty="0"/>
              <a:t>Notation :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2D754C-5F57-CB5A-2EE7-48C5F3C9D4EA}"/>
              </a:ext>
            </a:extLst>
          </p:cNvPr>
          <p:cNvSpPr txBox="1"/>
          <p:nvPr/>
        </p:nvSpPr>
        <p:spPr>
          <a:xfrm>
            <a:off x="3152775" y="1298273"/>
            <a:ext cx="551497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✖  ✖ </a:t>
            </a:r>
            <a:r>
              <a:rPr lang="fr-FR" b="1" dirty="0"/>
              <a:t>|</a:t>
            </a:r>
            <a:r>
              <a:rPr lang="fr-FR" dirty="0"/>
              <a:t> ✖  ✖  </a:t>
            </a:r>
            <a:r>
              <a:rPr lang="fr-FR" sz="3200" dirty="0"/>
              <a:t>| </a:t>
            </a:r>
            <a:r>
              <a:rPr lang="fr-FR" dirty="0"/>
              <a:t>✖  ✖ </a:t>
            </a:r>
            <a:r>
              <a:rPr lang="fr-FR" b="1" dirty="0"/>
              <a:t>|</a:t>
            </a:r>
            <a:r>
              <a:rPr lang="fr-FR" dirty="0"/>
              <a:t> ✖  ✖  </a:t>
            </a:r>
            <a:r>
              <a:rPr lang="fr-FR" sz="4500" dirty="0"/>
              <a:t>|</a:t>
            </a:r>
            <a:r>
              <a:rPr lang="fr-FR" dirty="0"/>
              <a:t>  ✖  ✖ </a:t>
            </a:r>
            <a:r>
              <a:rPr lang="fr-FR" b="1" dirty="0"/>
              <a:t>|</a:t>
            </a:r>
            <a:r>
              <a:rPr lang="fr-FR" dirty="0"/>
              <a:t> ✖  ✖  </a:t>
            </a:r>
            <a:r>
              <a:rPr lang="fr-FR" sz="3200" dirty="0"/>
              <a:t>|</a:t>
            </a:r>
            <a:r>
              <a:rPr lang="fr-FR" dirty="0"/>
              <a:t>  ✖  ✖ </a:t>
            </a:r>
            <a:r>
              <a:rPr lang="fr-FR" b="1" dirty="0"/>
              <a:t>|</a:t>
            </a:r>
            <a:r>
              <a:rPr lang="fr-FR" dirty="0"/>
              <a:t> ✖  ✖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F6565750-4F3C-7AF9-A889-E2916956BC14}"/>
              </a:ext>
            </a:extLst>
          </p:cNvPr>
          <p:cNvCxnSpPr>
            <a:cxnSpLocks/>
          </p:cNvCxnSpPr>
          <p:nvPr/>
        </p:nvCxnSpPr>
        <p:spPr>
          <a:xfrm>
            <a:off x="6667500" y="2238375"/>
            <a:ext cx="1095375" cy="439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4FE4D884-2270-75D1-3F97-4129F9227A72}"/>
              </a:ext>
            </a:extLst>
          </p:cNvPr>
          <p:cNvCxnSpPr>
            <a:cxnSpLocks/>
          </p:cNvCxnSpPr>
          <p:nvPr/>
        </p:nvCxnSpPr>
        <p:spPr>
          <a:xfrm flipH="1">
            <a:off x="4248150" y="2238374"/>
            <a:ext cx="1038225" cy="439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F107A25C-4CD9-27A5-B3F8-EC1C10CE37D9}"/>
              </a:ext>
            </a:extLst>
          </p:cNvPr>
          <p:cNvSpPr txBox="1"/>
          <p:nvPr/>
        </p:nvSpPr>
        <p:spPr>
          <a:xfrm>
            <a:off x="2438400" y="2777531"/>
            <a:ext cx="2667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✖  ✖ </a:t>
            </a:r>
            <a:r>
              <a:rPr lang="fr-FR" b="1" dirty="0"/>
              <a:t>|</a:t>
            </a:r>
            <a:r>
              <a:rPr lang="fr-FR" dirty="0"/>
              <a:t> ✖  ✖  </a:t>
            </a:r>
            <a:r>
              <a:rPr lang="fr-FR" sz="3200" dirty="0"/>
              <a:t>| </a:t>
            </a:r>
            <a:r>
              <a:rPr lang="fr-FR" dirty="0"/>
              <a:t>✖  ✖ </a:t>
            </a:r>
            <a:r>
              <a:rPr lang="fr-FR" b="1" dirty="0"/>
              <a:t>|</a:t>
            </a:r>
            <a:r>
              <a:rPr lang="fr-FR" dirty="0"/>
              <a:t> ✖  ✖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91D2592-4928-3913-EC3A-67C1223E0146}"/>
              </a:ext>
            </a:extLst>
          </p:cNvPr>
          <p:cNvSpPr txBox="1"/>
          <p:nvPr/>
        </p:nvSpPr>
        <p:spPr>
          <a:xfrm>
            <a:off x="6915150" y="2777531"/>
            <a:ext cx="2667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✖  ✖ </a:t>
            </a:r>
            <a:r>
              <a:rPr lang="fr-FR" b="1" dirty="0"/>
              <a:t>|</a:t>
            </a:r>
            <a:r>
              <a:rPr lang="fr-FR" dirty="0"/>
              <a:t> ✖  ✖  </a:t>
            </a:r>
            <a:r>
              <a:rPr lang="fr-FR" sz="3200" dirty="0"/>
              <a:t>| </a:t>
            </a:r>
            <a:r>
              <a:rPr lang="fr-FR" dirty="0"/>
              <a:t>✖  ✖ </a:t>
            </a:r>
            <a:r>
              <a:rPr lang="fr-FR" b="1" dirty="0"/>
              <a:t>|</a:t>
            </a:r>
            <a:r>
              <a:rPr lang="fr-FR" dirty="0"/>
              <a:t> ✖  ✖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F010E0F-64E4-43B3-54E3-92F6D4EF3783}"/>
              </a:ext>
            </a:extLst>
          </p:cNvPr>
          <p:cNvCxnSpPr>
            <a:cxnSpLocks/>
          </p:cNvCxnSpPr>
          <p:nvPr/>
        </p:nvCxnSpPr>
        <p:spPr>
          <a:xfrm flipH="1">
            <a:off x="2343150" y="3362306"/>
            <a:ext cx="1038225" cy="439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7BFCD555-7A1F-D568-F829-B01D32705479}"/>
              </a:ext>
            </a:extLst>
          </p:cNvPr>
          <p:cNvCxnSpPr>
            <a:cxnSpLocks/>
          </p:cNvCxnSpPr>
          <p:nvPr/>
        </p:nvCxnSpPr>
        <p:spPr>
          <a:xfrm>
            <a:off x="4095032" y="3362306"/>
            <a:ext cx="1095375" cy="439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875DC22B-0830-C9C0-4B63-179BCF26C69B}"/>
              </a:ext>
            </a:extLst>
          </p:cNvPr>
          <p:cNvCxnSpPr>
            <a:cxnSpLocks/>
          </p:cNvCxnSpPr>
          <p:nvPr/>
        </p:nvCxnSpPr>
        <p:spPr>
          <a:xfrm>
            <a:off x="8487493" y="3382335"/>
            <a:ext cx="1095375" cy="439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DD10A88-8ECD-2CBB-8149-DF1F2E9E44DF}"/>
              </a:ext>
            </a:extLst>
          </p:cNvPr>
          <p:cNvCxnSpPr>
            <a:cxnSpLocks/>
          </p:cNvCxnSpPr>
          <p:nvPr/>
        </p:nvCxnSpPr>
        <p:spPr>
          <a:xfrm flipH="1">
            <a:off x="7001595" y="3371932"/>
            <a:ext cx="1038225" cy="439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1994B156-1B49-C75B-130F-490DBE14B0B8}"/>
              </a:ext>
            </a:extLst>
          </p:cNvPr>
          <p:cNvSpPr txBox="1"/>
          <p:nvPr/>
        </p:nvSpPr>
        <p:spPr>
          <a:xfrm>
            <a:off x="1701788" y="3952875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✖  ✖ </a:t>
            </a:r>
            <a:r>
              <a:rPr lang="fr-FR" b="1" dirty="0"/>
              <a:t>|</a:t>
            </a:r>
            <a:r>
              <a:rPr lang="fr-FR" dirty="0"/>
              <a:t> ✖  ✖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A179F3B-0ECB-CB2F-0D4A-A9D93823A913}"/>
              </a:ext>
            </a:extLst>
          </p:cNvPr>
          <p:cNvSpPr txBox="1"/>
          <p:nvPr/>
        </p:nvSpPr>
        <p:spPr>
          <a:xfrm>
            <a:off x="4464756" y="3952875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✖  ✖ </a:t>
            </a:r>
            <a:r>
              <a:rPr lang="fr-FR" b="1" dirty="0"/>
              <a:t>|</a:t>
            </a:r>
            <a:r>
              <a:rPr lang="fr-FR" dirty="0"/>
              <a:t> ✖  ✖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4758EB6-43E7-D74E-A598-1AF2ED36E84E}"/>
              </a:ext>
            </a:extLst>
          </p:cNvPr>
          <p:cNvSpPr txBox="1"/>
          <p:nvPr/>
        </p:nvSpPr>
        <p:spPr>
          <a:xfrm>
            <a:off x="6444523" y="3952875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✖  ✖ </a:t>
            </a:r>
            <a:r>
              <a:rPr lang="fr-FR" b="1" dirty="0"/>
              <a:t>|</a:t>
            </a:r>
            <a:r>
              <a:rPr lang="fr-FR" dirty="0"/>
              <a:t> ✖  ✖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7CEF266-089D-E3B0-082A-0A3184D38E51}"/>
              </a:ext>
            </a:extLst>
          </p:cNvPr>
          <p:cNvSpPr txBox="1"/>
          <p:nvPr/>
        </p:nvSpPr>
        <p:spPr>
          <a:xfrm>
            <a:off x="8941506" y="3952875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✖  ✖ </a:t>
            </a:r>
            <a:r>
              <a:rPr lang="fr-FR" b="1" dirty="0"/>
              <a:t>|</a:t>
            </a:r>
            <a:r>
              <a:rPr lang="fr-FR" dirty="0"/>
              <a:t> ✖  ✖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01AF1EA-DC63-6F33-5A61-D845B9C714C9}"/>
              </a:ext>
            </a:extLst>
          </p:cNvPr>
          <p:cNvSpPr txBox="1"/>
          <p:nvPr/>
        </p:nvSpPr>
        <p:spPr>
          <a:xfrm>
            <a:off x="4045656" y="4884833"/>
            <a:ext cx="366959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500" dirty="0"/>
              <a:t>Δ₁, Δ₂, Δ₃, Δ₄, Δ₅, Δ₆, Δ₇, Δ₈</a:t>
            </a:r>
            <a:endParaRPr lang="fr-FR" sz="25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8E3070C-8DA1-37C3-F02D-8E669EBE543F}"/>
              </a:ext>
            </a:extLst>
          </p:cNvPr>
          <p:cNvSpPr txBox="1"/>
          <p:nvPr/>
        </p:nvSpPr>
        <p:spPr>
          <a:xfrm>
            <a:off x="5329588" y="2549677"/>
            <a:ext cx="10919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000" dirty="0"/>
              <a:t>Δ₁, Δ₂</a:t>
            </a:r>
            <a:endParaRPr lang="fr-FR" sz="30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6B9D0EB-1042-8BAE-9067-79FD34E354CC}"/>
              </a:ext>
            </a:extLst>
          </p:cNvPr>
          <p:cNvSpPr txBox="1"/>
          <p:nvPr/>
        </p:nvSpPr>
        <p:spPr>
          <a:xfrm>
            <a:off x="4951279" y="3781169"/>
            <a:ext cx="184858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500" dirty="0"/>
              <a:t>Δ₁, Δ₂, Δ₃, Δ₄</a:t>
            </a:r>
            <a:endParaRPr lang="fr-FR" sz="2500" dirty="0"/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6B8760A2-8071-F359-EB66-F1574CB33C61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5875571" y="3103675"/>
            <a:ext cx="0" cy="677494"/>
          </a:xfrm>
          <a:prstGeom prst="straightConnector1">
            <a:avLst/>
          </a:prstGeom>
          <a:ln w="28575">
            <a:solidFill>
              <a:srgbClr val="FFFFF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9781FB1C-DA70-3967-BA2D-58DD6BEAA4F7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5875571" y="3103675"/>
            <a:ext cx="0" cy="67749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8A9F8938-8103-EE1F-9308-121173321806}"/>
              </a:ext>
            </a:extLst>
          </p:cNvPr>
          <p:cNvCxnSpPr>
            <a:cxnSpLocks/>
            <a:stCxn id="23" idx="2"/>
            <a:endCxn id="21" idx="0"/>
          </p:cNvCxnSpPr>
          <p:nvPr/>
        </p:nvCxnSpPr>
        <p:spPr>
          <a:xfrm>
            <a:off x="5875571" y="4258223"/>
            <a:ext cx="4882" cy="6266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871B10A7-B470-BB46-0531-AAB16D7F40C4}"/>
              </a:ext>
            </a:extLst>
          </p:cNvPr>
          <p:cNvCxnSpPr/>
          <p:nvPr/>
        </p:nvCxnSpPr>
        <p:spPr>
          <a:xfrm>
            <a:off x="5875571" y="2097581"/>
            <a:ext cx="0" cy="36035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4FC2A269-079F-F0F0-F3DC-E5455D0D2BCF}"/>
              </a:ext>
            </a:extLst>
          </p:cNvPr>
          <p:cNvSpPr txBox="1"/>
          <p:nvPr/>
        </p:nvSpPr>
        <p:spPr>
          <a:xfrm>
            <a:off x="4243388" y="772401"/>
            <a:ext cx="638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000" dirty="0"/>
              <a:t>Δ₁</a:t>
            </a:r>
            <a:endParaRPr lang="fr-FR" sz="300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92FC3CA-49ED-AB16-D715-249E50A00D9B}"/>
              </a:ext>
            </a:extLst>
          </p:cNvPr>
          <p:cNvSpPr txBox="1"/>
          <p:nvPr/>
        </p:nvSpPr>
        <p:spPr>
          <a:xfrm>
            <a:off x="7052264" y="758338"/>
            <a:ext cx="6222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000" dirty="0"/>
              <a:t>Δ ₂</a:t>
            </a:r>
            <a:endParaRPr lang="fr-FR" sz="300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BB63C7F1-E560-9D84-3492-4C99BF5E418A}"/>
              </a:ext>
            </a:extLst>
          </p:cNvPr>
          <p:cNvSpPr txBox="1"/>
          <p:nvPr/>
        </p:nvSpPr>
        <p:spPr>
          <a:xfrm>
            <a:off x="3597960" y="1038805"/>
            <a:ext cx="48282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500" dirty="0"/>
              <a:t>Δ₁</a:t>
            </a:r>
            <a:endParaRPr lang="fr-FR" sz="2500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B312989-2423-C864-C8F4-A163EB64982A}"/>
              </a:ext>
            </a:extLst>
          </p:cNvPr>
          <p:cNvSpPr txBox="1"/>
          <p:nvPr/>
        </p:nvSpPr>
        <p:spPr>
          <a:xfrm>
            <a:off x="5000086" y="1040375"/>
            <a:ext cx="48282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500" dirty="0"/>
              <a:t>Δ₂</a:t>
            </a:r>
            <a:endParaRPr lang="fr-FR" sz="2500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4CBA2ED-EA26-FE3F-01F4-83250CF7965A}"/>
              </a:ext>
            </a:extLst>
          </p:cNvPr>
          <p:cNvSpPr txBox="1"/>
          <p:nvPr/>
        </p:nvSpPr>
        <p:spPr>
          <a:xfrm>
            <a:off x="6384119" y="1059746"/>
            <a:ext cx="48282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500" dirty="0"/>
              <a:t>Δ₃</a:t>
            </a:r>
            <a:endParaRPr lang="fr-FR" sz="250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AD114F05-63A3-89B6-38C3-128629EE324B}"/>
              </a:ext>
            </a:extLst>
          </p:cNvPr>
          <p:cNvSpPr txBox="1"/>
          <p:nvPr/>
        </p:nvSpPr>
        <p:spPr>
          <a:xfrm>
            <a:off x="7762875" y="1059746"/>
            <a:ext cx="48282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500" dirty="0"/>
              <a:t>Δ₄</a:t>
            </a:r>
            <a:endParaRPr lang="fr-FR" sz="250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4FC44A1-A912-1CB7-2C84-4216FEA2E28A}"/>
              </a:ext>
            </a:extLst>
          </p:cNvPr>
          <p:cNvSpPr txBox="1"/>
          <p:nvPr/>
        </p:nvSpPr>
        <p:spPr>
          <a:xfrm>
            <a:off x="3342544" y="1283795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Δ₁</a:t>
            </a:r>
            <a:endParaRPr lang="fr-FR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E21B637-FE47-E1A6-0C48-B68E9CF8B38D}"/>
              </a:ext>
            </a:extLst>
          </p:cNvPr>
          <p:cNvSpPr txBox="1"/>
          <p:nvPr/>
        </p:nvSpPr>
        <p:spPr>
          <a:xfrm>
            <a:off x="3980088" y="127733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Δ₂</a:t>
            </a:r>
            <a:endParaRPr lang="fr-FR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E0C17ED-9003-BA7A-55B8-131071600783}"/>
              </a:ext>
            </a:extLst>
          </p:cNvPr>
          <p:cNvSpPr txBox="1"/>
          <p:nvPr/>
        </p:nvSpPr>
        <p:spPr>
          <a:xfrm>
            <a:off x="4672644" y="128254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Δ₂</a:t>
            </a:r>
            <a:endParaRPr lang="fr-FR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A17EA84-ECE1-EC73-31B6-44E63931ED17}"/>
              </a:ext>
            </a:extLst>
          </p:cNvPr>
          <p:cNvSpPr txBox="1"/>
          <p:nvPr/>
        </p:nvSpPr>
        <p:spPr>
          <a:xfrm>
            <a:off x="5286375" y="1266363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Δ₄</a:t>
            </a:r>
            <a:endParaRPr lang="fr-FR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B4D912A4-A73E-C685-9C51-EDB1F5FE74E3}"/>
              </a:ext>
            </a:extLst>
          </p:cNvPr>
          <p:cNvSpPr txBox="1"/>
          <p:nvPr/>
        </p:nvSpPr>
        <p:spPr>
          <a:xfrm>
            <a:off x="6096000" y="126375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Δ₅</a:t>
            </a:r>
            <a:endParaRPr lang="fr-FR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F36DCA25-9D4E-4845-DDDA-A00943760C25}"/>
              </a:ext>
            </a:extLst>
          </p:cNvPr>
          <p:cNvSpPr txBox="1"/>
          <p:nvPr/>
        </p:nvSpPr>
        <p:spPr>
          <a:xfrm>
            <a:off x="6743579" y="126375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Δ₆</a:t>
            </a:r>
            <a:endParaRPr lang="fr-FR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1ECE19B5-70F5-8465-D417-09E5EF915DA7}"/>
              </a:ext>
            </a:extLst>
          </p:cNvPr>
          <p:cNvSpPr txBox="1"/>
          <p:nvPr/>
        </p:nvSpPr>
        <p:spPr>
          <a:xfrm>
            <a:off x="7481819" y="126375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Δ₇</a:t>
            </a:r>
            <a:endParaRPr lang="fr-FR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4771393-906D-62BF-41A4-AE4B44EC5D16}"/>
              </a:ext>
            </a:extLst>
          </p:cNvPr>
          <p:cNvSpPr txBox="1"/>
          <p:nvPr/>
        </p:nvSpPr>
        <p:spPr>
          <a:xfrm>
            <a:off x="8088025" y="1266363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Δ₈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21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2" grpId="0"/>
      <p:bldP spid="23" grpId="0"/>
      <p:bldP spid="33" grpId="0"/>
      <p:bldP spid="33" grpId="1"/>
      <p:bldP spid="34" grpId="0"/>
      <p:bldP spid="34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22D546-5324-769D-07C9-630AB42B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81132C-E83C-7DD7-6245-06B599BF7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Parallélisation :</a:t>
            </a:r>
          </a:p>
        </p:txBody>
      </p:sp>
      <p:sp>
        <p:nvSpPr>
          <p:cNvPr id="6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B3CE793B-B70B-7E8E-8B93-AE35159A6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6130" y="640080"/>
            <a:ext cx="6010948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0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FC39FB5-426F-D67E-AF4F-176850D84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9903" y="965199"/>
            <a:ext cx="2179138" cy="4927602"/>
          </a:xfrm>
          <a:prstGeom prst="rect">
            <a:avLst/>
          </a:prstGeom>
        </p:spPr>
      </p:pic>
      <p:sp>
        <p:nvSpPr>
          <p:cNvPr id="44" name="Freeform: Shape 37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F894447-A14D-B003-DC44-AFE9E74A9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061" y="762538"/>
            <a:ext cx="5649349" cy="31998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Les task :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sX0" fmla="*/ 0 w 5303520"/>
              <a:gd name="csY0" fmla="*/ 0 h 18288"/>
              <a:gd name="csX1" fmla="*/ 556870 w 5303520"/>
              <a:gd name="csY1" fmla="*/ 0 h 18288"/>
              <a:gd name="csX2" fmla="*/ 1272845 w 5303520"/>
              <a:gd name="csY2" fmla="*/ 0 h 18288"/>
              <a:gd name="csX3" fmla="*/ 1882750 w 5303520"/>
              <a:gd name="csY3" fmla="*/ 0 h 18288"/>
              <a:gd name="csX4" fmla="*/ 2439619 w 5303520"/>
              <a:gd name="csY4" fmla="*/ 0 h 18288"/>
              <a:gd name="csX5" fmla="*/ 3155594 w 5303520"/>
              <a:gd name="csY5" fmla="*/ 0 h 18288"/>
              <a:gd name="csX6" fmla="*/ 3818534 w 5303520"/>
              <a:gd name="csY6" fmla="*/ 0 h 18288"/>
              <a:gd name="csX7" fmla="*/ 4481474 w 5303520"/>
              <a:gd name="csY7" fmla="*/ 0 h 18288"/>
              <a:gd name="csX8" fmla="*/ 5303520 w 5303520"/>
              <a:gd name="csY8" fmla="*/ 0 h 18288"/>
              <a:gd name="csX9" fmla="*/ 5303520 w 5303520"/>
              <a:gd name="csY9" fmla="*/ 18288 h 18288"/>
              <a:gd name="csX10" fmla="*/ 4746650 w 5303520"/>
              <a:gd name="csY10" fmla="*/ 18288 h 18288"/>
              <a:gd name="csX11" fmla="*/ 4242816 w 5303520"/>
              <a:gd name="csY11" fmla="*/ 18288 h 18288"/>
              <a:gd name="csX12" fmla="*/ 3526841 w 5303520"/>
              <a:gd name="csY12" fmla="*/ 18288 h 18288"/>
              <a:gd name="csX13" fmla="*/ 2969971 w 5303520"/>
              <a:gd name="csY13" fmla="*/ 18288 h 18288"/>
              <a:gd name="csX14" fmla="*/ 2253996 w 5303520"/>
              <a:gd name="csY14" fmla="*/ 18288 h 18288"/>
              <a:gd name="csX15" fmla="*/ 1484986 w 5303520"/>
              <a:gd name="csY15" fmla="*/ 18288 h 18288"/>
              <a:gd name="csX16" fmla="*/ 875081 w 5303520"/>
              <a:gd name="csY16" fmla="*/ 18288 h 18288"/>
              <a:gd name="csX17" fmla="*/ 0 w 5303520"/>
              <a:gd name="csY17" fmla="*/ 18288 h 18288"/>
              <a:gd name="csX18" fmla="*/ 0 w 530352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4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8628" y="1408629"/>
            <a:ext cx="6858000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39A6F5-AD6A-4D80-8AD9-6290D13AC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1000"/>
                </a:srgbClr>
              </a:gs>
              <a:gs pos="95000">
                <a:schemeClr val="accent5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6A7FDDE-16F9-21CC-A0C9-B41870C5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2945176"/>
            <a:ext cx="2878688" cy="2757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Les task : font un test sur l’entrée delta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CBDCEDB5-6011-3444-59AD-80C01C3C2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6020" y="1738229"/>
            <a:ext cx="1200161" cy="271387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86D1E0A-DC35-1418-DE4C-2D8FD8EA4E28}"/>
              </a:ext>
            </a:extLst>
          </p:cNvPr>
          <p:cNvSpPr txBox="1"/>
          <p:nvPr/>
        </p:nvSpPr>
        <p:spPr>
          <a:xfrm>
            <a:off x="4879992" y="736370"/>
            <a:ext cx="3147413" cy="419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33272">
              <a:spcAft>
                <a:spcPts val="600"/>
              </a:spcAft>
            </a:pPr>
            <a:r>
              <a:rPr lang="fr-FR" sz="203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 le test passe :</a:t>
            </a:r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3F694C7B-4215-E0B7-5127-EB7B4FC0E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903830" y="1203437"/>
            <a:ext cx="2050572" cy="487774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002AC09-C2BB-9066-4B66-DB0F36EE067B}"/>
              </a:ext>
            </a:extLst>
          </p:cNvPr>
          <p:cNvSpPr txBox="1"/>
          <p:nvPr/>
        </p:nvSpPr>
        <p:spPr>
          <a:xfrm>
            <a:off x="8820865" y="776819"/>
            <a:ext cx="2216503" cy="338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32104">
              <a:spcAft>
                <a:spcPts val="600"/>
              </a:spcAft>
            </a:pPr>
            <a:r>
              <a:rPr lang="fr-FR" sz="163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 le test échoue :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3542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AF8470C-61E7-5021-D540-E21DF326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 les deux sous tests passent : 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61F1AAA9-1283-6986-54E6-BF10AAF57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8643" y="45692"/>
            <a:ext cx="3499104" cy="674465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2C61398-C6C9-F5D3-21F4-5D1679DC44D7}"/>
              </a:ext>
            </a:extLst>
          </p:cNvPr>
          <p:cNvSpPr txBox="1"/>
          <p:nvPr/>
        </p:nvSpPr>
        <p:spPr>
          <a:xfrm>
            <a:off x="4917018" y="314917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On divise en deux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562FDCC-0DD8-5B97-2422-533B6ABA596F}"/>
              </a:ext>
            </a:extLst>
          </p:cNvPr>
          <p:cNvSpPr txBox="1"/>
          <p:nvPr/>
        </p:nvSpPr>
        <p:spPr>
          <a:xfrm>
            <a:off x="4623957" y="2960260"/>
            <a:ext cx="1763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On redivise en 2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5089281-F27A-06E5-9374-80EA2765B25E}"/>
              </a:ext>
            </a:extLst>
          </p:cNvPr>
          <p:cNvCxnSpPr/>
          <p:nvPr/>
        </p:nvCxnSpPr>
        <p:spPr>
          <a:xfrm>
            <a:off x="6856291" y="497798"/>
            <a:ext cx="441904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5D2E6CF6-1DB4-60B7-0103-6DB3C718C36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387645" y="3144926"/>
            <a:ext cx="46864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1E01ECCB-136E-A7D9-07FF-2BED8AF8B38A}"/>
              </a:ext>
            </a:extLst>
          </p:cNvPr>
          <p:cNvSpPr txBox="1"/>
          <p:nvPr/>
        </p:nvSpPr>
        <p:spPr>
          <a:xfrm>
            <a:off x="9720590" y="1444097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Granularité = 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BFFCEC2-B7A0-1E0F-5FDE-3C4F07175F94}"/>
              </a:ext>
            </a:extLst>
          </p:cNvPr>
          <p:cNvSpPr txBox="1"/>
          <p:nvPr/>
        </p:nvSpPr>
        <p:spPr>
          <a:xfrm>
            <a:off x="9679372" y="4723103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Granularité = 4</a:t>
            </a:r>
          </a:p>
        </p:txBody>
      </p:sp>
      <p:sp>
        <p:nvSpPr>
          <p:cNvPr id="19" name="Accolade fermante 18">
            <a:extLst>
              <a:ext uri="{FF2B5EF4-FFF2-40B4-BE49-F238E27FC236}">
                <a16:creationId xmlns:a16="http://schemas.microsoft.com/office/drawing/2014/main" id="{492C8814-FDD0-2859-23E7-84FEAB6EFB3F}"/>
              </a:ext>
            </a:extLst>
          </p:cNvPr>
          <p:cNvSpPr/>
          <p:nvPr/>
        </p:nvSpPr>
        <p:spPr>
          <a:xfrm>
            <a:off x="8794341" y="180165"/>
            <a:ext cx="885031" cy="289719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ccolade fermante 19">
            <a:extLst>
              <a:ext uri="{FF2B5EF4-FFF2-40B4-BE49-F238E27FC236}">
                <a16:creationId xmlns:a16="http://schemas.microsoft.com/office/drawing/2014/main" id="{9B11ADB3-0108-4E46-6BED-2463AC057C7B}"/>
              </a:ext>
            </a:extLst>
          </p:cNvPr>
          <p:cNvSpPr/>
          <p:nvPr/>
        </p:nvSpPr>
        <p:spPr>
          <a:xfrm>
            <a:off x="8794341" y="3144927"/>
            <a:ext cx="885031" cy="353289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708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294469-72FD-CE29-3FFB-C3E830C0C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 les quatre tests passent :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739C82FF-C7A6-6759-0DAA-3A1D29068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5141" y="58911"/>
            <a:ext cx="3696929" cy="674017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1D6BC03-DA17-9AD9-3D2F-A0513149BCCC}"/>
              </a:ext>
            </a:extLst>
          </p:cNvPr>
          <p:cNvSpPr txBox="1"/>
          <p:nvPr/>
        </p:nvSpPr>
        <p:spPr>
          <a:xfrm>
            <a:off x="10545395" y="3306770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Granularité = 4</a:t>
            </a:r>
          </a:p>
        </p:txBody>
      </p:sp>
      <p:sp>
        <p:nvSpPr>
          <p:cNvPr id="7" name="Accolade fermante 6">
            <a:extLst>
              <a:ext uri="{FF2B5EF4-FFF2-40B4-BE49-F238E27FC236}">
                <a16:creationId xmlns:a16="http://schemas.microsoft.com/office/drawing/2014/main" id="{2A90E14C-E80B-548D-7A5E-95425AF2FD6C}"/>
              </a:ext>
            </a:extLst>
          </p:cNvPr>
          <p:cNvSpPr/>
          <p:nvPr/>
        </p:nvSpPr>
        <p:spPr>
          <a:xfrm>
            <a:off x="9660364" y="183784"/>
            <a:ext cx="885031" cy="661530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33C310-EA77-F66D-9E7C-F9CE5E979830}"/>
              </a:ext>
            </a:extLst>
          </p:cNvPr>
          <p:cNvSpPr txBox="1"/>
          <p:nvPr/>
        </p:nvSpPr>
        <p:spPr>
          <a:xfrm>
            <a:off x="5307221" y="284436"/>
            <a:ext cx="1763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On redivise en 2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FB1E9B6-22AE-5B48-A5A1-8404A6EF184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7070909" y="469102"/>
            <a:ext cx="46864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5E160479-72AD-050F-8F42-76B588A7395B}"/>
              </a:ext>
            </a:extLst>
          </p:cNvPr>
          <p:cNvSpPr txBox="1"/>
          <p:nvPr/>
        </p:nvSpPr>
        <p:spPr>
          <a:xfrm>
            <a:off x="4804841" y="2912134"/>
            <a:ext cx="1947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On passe aux </a:t>
            </a:r>
          </a:p>
          <a:p>
            <a:pPr algn="ctr"/>
            <a:r>
              <a:rPr lang="fr-FR" dirty="0">
                <a:solidFill>
                  <a:srgbClr val="00B0F0"/>
                </a:solidFill>
              </a:rPr>
              <a:t>complémentaires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531DC96-9266-7397-A6B0-C16CD214E50C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6751977" y="3235300"/>
            <a:ext cx="880857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486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2C09989-7490-FDE5-6B41-B205E61FF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 les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complémentaires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passent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aussi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🤯: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B51B59E0-704C-AFC0-4B2F-5F0AFF099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474" y="820784"/>
            <a:ext cx="6030800" cy="556873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B145927-5459-5635-68F9-7D626FECB505}"/>
              </a:ext>
            </a:extLst>
          </p:cNvPr>
          <p:cNvSpPr txBox="1"/>
          <p:nvPr/>
        </p:nvSpPr>
        <p:spPr>
          <a:xfrm>
            <a:off x="10651275" y="360515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Granularité = 4</a:t>
            </a:r>
          </a:p>
        </p:txBody>
      </p:sp>
      <p:sp>
        <p:nvSpPr>
          <p:cNvPr id="7" name="Accolade fermante 6">
            <a:extLst>
              <a:ext uri="{FF2B5EF4-FFF2-40B4-BE49-F238E27FC236}">
                <a16:creationId xmlns:a16="http://schemas.microsoft.com/office/drawing/2014/main" id="{D746E0D4-D50D-7A38-DF72-F0157DF3AC71}"/>
              </a:ext>
            </a:extLst>
          </p:cNvPr>
          <p:cNvSpPr/>
          <p:nvPr/>
        </p:nvSpPr>
        <p:spPr>
          <a:xfrm>
            <a:off x="10377076" y="242696"/>
            <a:ext cx="548396" cy="661530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2F13D85-215E-9F38-9E8B-882C5F8A613E}"/>
              </a:ext>
            </a:extLst>
          </p:cNvPr>
          <p:cNvSpPr txBox="1"/>
          <p:nvPr/>
        </p:nvSpPr>
        <p:spPr>
          <a:xfrm>
            <a:off x="4581533" y="820784"/>
            <a:ext cx="1944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On redivise en 2 !!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D4BDC004-2DBA-CB78-A6AC-F695E91416C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526361" y="1005450"/>
            <a:ext cx="528957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14E5000B-B7E5-8883-C73B-3B228D71B014}"/>
              </a:ext>
            </a:extLst>
          </p:cNvPr>
          <p:cNvSpPr txBox="1"/>
          <p:nvPr/>
        </p:nvSpPr>
        <p:spPr>
          <a:xfrm>
            <a:off x="4148864" y="3143488"/>
            <a:ext cx="1947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On passe aux </a:t>
            </a:r>
          </a:p>
          <a:p>
            <a:pPr algn="ctr"/>
            <a:r>
              <a:rPr lang="fr-FR" dirty="0">
                <a:solidFill>
                  <a:srgbClr val="00B0F0"/>
                </a:solidFill>
              </a:rPr>
              <a:t>complémentaires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AF73C63-59AF-53CD-6D34-B8C50714E9F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096000" y="3234088"/>
            <a:ext cx="959318" cy="23256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42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C867835-A917-4A2B-8424-3AFAF7436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11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344152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BB954F-D3DB-7DF9-6106-65D2BEC1F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87" y="2248263"/>
            <a:ext cx="3768917" cy="16061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Quelques exemples :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BCB33E82-5389-3CA7-6ECE-28BEC0221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4376" y="643468"/>
            <a:ext cx="2228758" cy="617761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0642F50-D8DA-E263-2785-1749F0011E85}"/>
              </a:ext>
            </a:extLst>
          </p:cNvPr>
          <p:cNvSpPr txBox="1"/>
          <p:nvPr/>
        </p:nvSpPr>
        <p:spPr>
          <a:xfrm>
            <a:off x="8415171" y="166414"/>
            <a:ext cx="1396969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500" dirty="0"/>
              <a:t>0, 1, 2, </a:t>
            </a:r>
            <a:r>
              <a:rPr lang="fr-FR" sz="25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118C5A0-1B26-C4F4-1F70-02ED84D9C6E2}"/>
              </a:ext>
            </a:extLst>
          </p:cNvPr>
          <p:cNvSpPr txBox="1"/>
          <p:nvPr/>
        </p:nvSpPr>
        <p:spPr>
          <a:xfrm>
            <a:off x="6472934" y="876718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On divise en deux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0F80DCB-215E-E7F2-6E31-20D3D58DA9AE}"/>
              </a:ext>
            </a:extLst>
          </p:cNvPr>
          <p:cNvCxnSpPr/>
          <p:nvPr/>
        </p:nvCxnSpPr>
        <p:spPr>
          <a:xfrm>
            <a:off x="8412207" y="1059599"/>
            <a:ext cx="441904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00DB36FF-6BCD-B6A8-65A4-E6688075B962}"/>
              </a:ext>
            </a:extLst>
          </p:cNvPr>
          <p:cNvSpPr txBox="1"/>
          <p:nvPr/>
        </p:nvSpPr>
        <p:spPr>
          <a:xfrm>
            <a:off x="10261821" y="2063597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On divise en deux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B90A5781-A7E6-E40D-1B0E-F23205B5CB7A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9740766" y="2248263"/>
            <a:ext cx="521055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18D6403E-DBE3-7CC4-47AD-7F8F405FB544}"/>
              </a:ext>
            </a:extLst>
          </p:cNvPr>
          <p:cNvSpPr txBox="1"/>
          <p:nvPr/>
        </p:nvSpPr>
        <p:spPr>
          <a:xfrm>
            <a:off x="10264869" y="4425072"/>
            <a:ext cx="215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Un des deux à fail : Je fais l’union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6CFCAC94-826B-399C-54CB-05E49E9A7947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9740766" y="4534670"/>
            <a:ext cx="524103" cy="21356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49121753-F2EA-B55D-F7C2-AC124611C3F7}"/>
              </a:ext>
            </a:extLst>
          </p:cNvPr>
          <p:cNvSpPr txBox="1"/>
          <p:nvPr/>
        </p:nvSpPr>
        <p:spPr>
          <a:xfrm>
            <a:off x="9812140" y="5714871"/>
            <a:ext cx="204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Un des deux à fail : Je fais l’union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3D42487A-3F95-2BD1-0C31-74B591354BA8}"/>
              </a:ext>
            </a:extLst>
          </p:cNvPr>
          <p:cNvCxnSpPr>
            <a:cxnSpLocks/>
            <a:stCxn id="37" idx="1"/>
          </p:cNvCxnSpPr>
          <p:nvPr/>
        </p:nvCxnSpPr>
        <p:spPr>
          <a:xfrm flipH="1" flipV="1">
            <a:off x="9288037" y="5824469"/>
            <a:ext cx="524103" cy="21356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318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A7A50-49B4-F7A2-F032-645C382B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C867835-A917-4A2B-8424-3AFAF7436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13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344152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C73F4F1-2F7E-856C-B224-9ED9F2808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87" y="2248263"/>
            <a:ext cx="3768917" cy="16061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Quelques exemples :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D3BD389A-0C6E-FDB9-5EF2-34C67E98E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924800" y="643466"/>
            <a:ext cx="2178730" cy="613100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930D314-CD53-E455-D6EC-710D28E2BDA3}"/>
              </a:ext>
            </a:extLst>
          </p:cNvPr>
          <p:cNvSpPr txBox="1"/>
          <p:nvPr/>
        </p:nvSpPr>
        <p:spPr>
          <a:xfrm>
            <a:off x="8415171" y="166414"/>
            <a:ext cx="1396969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500" dirty="0">
                <a:solidFill>
                  <a:srgbClr val="FF0000"/>
                </a:solidFill>
              </a:rPr>
              <a:t>0</a:t>
            </a:r>
            <a:r>
              <a:rPr lang="fr-FR" sz="2500" dirty="0"/>
              <a:t>,</a:t>
            </a:r>
            <a:r>
              <a:rPr lang="fr-FR" sz="2500" dirty="0">
                <a:solidFill>
                  <a:srgbClr val="FF0000"/>
                </a:solidFill>
              </a:rPr>
              <a:t> 1</a:t>
            </a:r>
            <a:r>
              <a:rPr lang="fr-FR" sz="2500" dirty="0"/>
              <a:t>, 2, 3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1AF3965-EC6F-BC74-11D0-58FBF3A38768}"/>
              </a:ext>
            </a:extLst>
          </p:cNvPr>
          <p:cNvSpPr txBox="1"/>
          <p:nvPr/>
        </p:nvSpPr>
        <p:spPr>
          <a:xfrm>
            <a:off x="6800193" y="917602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On divise en deux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C4095E64-A377-B02E-A55A-31F5DF0806CB}"/>
              </a:ext>
            </a:extLst>
          </p:cNvPr>
          <p:cNvCxnSpPr/>
          <p:nvPr/>
        </p:nvCxnSpPr>
        <p:spPr>
          <a:xfrm>
            <a:off x="8739466" y="1100483"/>
            <a:ext cx="441904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B7FEC4F6-35A9-1508-D38F-29840AD9B328}"/>
              </a:ext>
            </a:extLst>
          </p:cNvPr>
          <p:cNvSpPr txBox="1"/>
          <p:nvPr/>
        </p:nvSpPr>
        <p:spPr>
          <a:xfrm>
            <a:off x="6538622" y="1555777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On divise en deux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AE9445E7-66BD-33C6-88A6-C1050C4591C6}"/>
              </a:ext>
            </a:extLst>
          </p:cNvPr>
          <p:cNvCxnSpPr/>
          <p:nvPr/>
        </p:nvCxnSpPr>
        <p:spPr>
          <a:xfrm>
            <a:off x="8477895" y="1738658"/>
            <a:ext cx="441904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92CDE36C-539F-DA52-2221-74D7D8295051}"/>
              </a:ext>
            </a:extLst>
          </p:cNvPr>
          <p:cNvSpPr txBox="1"/>
          <p:nvPr/>
        </p:nvSpPr>
        <p:spPr>
          <a:xfrm>
            <a:off x="10032293" y="5679061"/>
            <a:ext cx="2159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Un des deux à fail : Je fais l’union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8654A02-783F-6719-5BAA-090C714BEA86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9508190" y="5788659"/>
            <a:ext cx="524103" cy="21356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2A974E89-014C-1BCD-4086-C4B4A12C16DE}"/>
              </a:ext>
            </a:extLst>
          </p:cNvPr>
          <p:cNvSpPr txBox="1"/>
          <p:nvPr/>
        </p:nvSpPr>
        <p:spPr>
          <a:xfrm>
            <a:off x="5374497" y="4286561"/>
            <a:ext cx="2383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Je ne peux plus découper : Je renvoie le tout !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47BB627A-A46C-3001-902F-785A891AB876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7757962" y="4480338"/>
            <a:ext cx="900849" cy="26788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83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D1A671DE-D529-4A2A-A35D-E97400239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E104DC-47A2-76A9-0EDB-9875C446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6055" y="780057"/>
            <a:ext cx="4947745" cy="28284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Problème de parallélisation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4" name="Freeform: Shape 80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12599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96" name="Straight Connector 82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3649" y="127376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Block Arc 8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631431" y="1382395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8" name="Freeform: Shape 8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31329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9" name="Oval 88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20126" y="2345836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03228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Arc 94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27948" flipH="1">
            <a:off x="2309492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C4F97-6756-6A13-476F-5BED3484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F0BFD4-60A3-7CA1-0D01-6C7EC7A43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Flashback ⏳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568989F-82E5-74D2-4882-48A622C6D642}"/>
              </a:ext>
            </a:extLst>
          </p:cNvPr>
          <p:cNvSpPr txBox="1"/>
          <p:nvPr/>
        </p:nvSpPr>
        <p:spPr>
          <a:xfrm>
            <a:off x="7054596" y="1661057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7BC724-0DE9-3F1D-E170-1FB4ADBDB4EE}"/>
              </a:ext>
            </a:extLst>
          </p:cNvPr>
          <p:cNvSpPr txBox="1"/>
          <p:nvPr/>
        </p:nvSpPr>
        <p:spPr>
          <a:xfrm>
            <a:off x="5292851" y="1404140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B2B2B2"/>
                </a:solidFill>
              </a:rPr>
              <a:t>✖  ✖  </a:t>
            </a:r>
            <a:r>
              <a:rPr lang="fr-FR" sz="2400" dirty="0"/>
              <a:t>✖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39105B3-22BF-EDC8-4521-77B694B29B3F}"/>
              </a:ext>
            </a:extLst>
          </p:cNvPr>
          <p:cNvSpPr txBox="1"/>
          <p:nvPr/>
        </p:nvSpPr>
        <p:spPr>
          <a:xfrm>
            <a:off x="7054596" y="1661057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D9A937C5-3BDB-38AE-F74A-F828C2CF1D71}"/>
              </a:ext>
            </a:extLst>
          </p:cNvPr>
          <p:cNvCxnSpPr/>
          <p:nvPr/>
        </p:nvCxnSpPr>
        <p:spPr>
          <a:xfrm flipH="1">
            <a:off x="1457325" y="2377020"/>
            <a:ext cx="3911726" cy="609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188BC4E-54F1-6E3F-99F5-35EF11DBCDA0}"/>
              </a:ext>
            </a:extLst>
          </p:cNvPr>
          <p:cNvCxnSpPr>
            <a:cxnSpLocks/>
          </p:cNvCxnSpPr>
          <p:nvPr/>
        </p:nvCxnSpPr>
        <p:spPr>
          <a:xfrm>
            <a:off x="6867525" y="2382315"/>
            <a:ext cx="3911726" cy="609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2896594-B270-55CA-7349-C5595E2054CB}"/>
              </a:ext>
            </a:extLst>
          </p:cNvPr>
          <p:cNvCxnSpPr>
            <a:cxnSpLocks/>
          </p:cNvCxnSpPr>
          <p:nvPr/>
        </p:nvCxnSpPr>
        <p:spPr>
          <a:xfrm flipH="1">
            <a:off x="4581525" y="2449423"/>
            <a:ext cx="1225676" cy="5371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17D110F-D7F6-346C-94CF-D422CA1EC32B}"/>
              </a:ext>
            </a:extLst>
          </p:cNvPr>
          <p:cNvCxnSpPr>
            <a:cxnSpLocks/>
          </p:cNvCxnSpPr>
          <p:nvPr/>
        </p:nvCxnSpPr>
        <p:spPr>
          <a:xfrm>
            <a:off x="6405562" y="2453220"/>
            <a:ext cx="1157288" cy="5334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0F23AEF-763B-52D4-4C48-69A690B67833}"/>
              </a:ext>
            </a:extLst>
          </p:cNvPr>
          <p:cNvSpPr txBox="1"/>
          <p:nvPr/>
        </p:nvSpPr>
        <p:spPr>
          <a:xfrm>
            <a:off x="654176" y="3120866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✖  ✖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86D5C98-E896-1C48-C662-1EFFD2196310}"/>
              </a:ext>
            </a:extLst>
          </p:cNvPr>
          <p:cNvSpPr txBox="1"/>
          <p:nvPr/>
        </p:nvSpPr>
        <p:spPr>
          <a:xfrm>
            <a:off x="3778376" y="3120866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✖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84D238B-49D1-8228-489D-47E8FC406FE2}"/>
              </a:ext>
            </a:extLst>
          </p:cNvPr>
          <p:cNvSpPr txBox="1"/>
          <p:nvPr/>
        </p:nvSpPr>
        <p:spPr>
          <a:xfrm>
            <a:off x="6761605" y="3120866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  <a:r>
              <a:rPr lang="fr-FR" sz="2400" dirty="0"/>
              <a:t>  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46A2C4F-3C1D-BE95-03E2-E2AE52073C97}"/>
              </a:ext>
            </a:extLst>
          </p:cNvPr>
          <p:cNvSpPr txBox="1"/>
          <p:nvPr/>
        </p:nvSpPr>
        <p:spPr>
          <a:xfrm>
            <a:off x="9976102" y="3135223"/>
            <a:ext cx="16062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✖  ✖  ✖  </a:t>
            </a:r>
            <a:r>
              <a:rPr lang="fr-F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✖</a:t>
            </a:r>
          </a:p>
          <a:p>
            <a:r>
              <a:rPr lang="fr-FR" sz="2400" dirty="0">
                <a:solidFill>
                  <a:srgbClr val="FF0000"/>
                </a:solidFill>
              </a:rPr>
              <a:t>      •          •    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3CF5E31-10B5-260D-8DF1-C8044DD7F279}"/>
              </a:ext>
            </a:extLst>
          </p:cNvPr>
          <p:cNvSpPr txBox="1"/>
          <p:nvPr/>
        </p:nvSpPr>
        <p:spPr>
          <a:xfrm>
            <a:off x="5369051" y="3351698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11238045-FD6A-7670-CB27-A7277363274E}"/>
              </a:ext>
            </a:extLst>
          </p:cNvPr>
          <p:cNvSpPr txBox="1"/>
          <p:nvPr/>
        </p:nvSpPr>
        <p:spPr>
          <a:xfrm>
            <a:off x="2229802" y="3343840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75C42C58-61FE-D0FF-BA6E-F247FC23C5AE}"/>
              </a:ext>
            </a:extLst>
          </p:cNvPr>
          <p:cNvSpPr txBox="1"/>
          <p:nvPr/>
        </p:nvSpPr>
        <p:spPr>
          <a:xfrm>
            <a:off x="8364095" y="3366055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40C6F2FE-51F0-B0FD-B1C1-ECF9CD82F3DE}"/>
              </a:ext>
            </a:extLst>
          </p:cNvPr>
          <p:cNvSpPr txBox="1"/>
          <p:nvPr/>
        </p:nvSpPr>
        <p:spPr>
          <a:xfrm>
            <a:off x="11537824" y="3351698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7438E714-282D-53D5-653E-FE48B3D86445}"/>
              </a:ext>
            </a:extLst>
          </p:cNvPr>
          <p:cNvCxnSpPr>
            <a:cxnSpLocks/>
          </p:cNvCxnSpPr>
          <p:nvPr/>
        </p:nvCxnSpPr>
        <p:spPr>
          <a:xfrm>
            <a:off x="4581524" y="4119561"/>
            <a:ext cx="0" cy="771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9BD6F81-11D8-0686-1220-AF1BB15A3349}"/>
              </a:ext>
            </a:extLst>
          </p:cNvPr>
          <p:cNvCxnSpPr>
            <a:cxnSpLocks/>
          </p:cNvCxnSpPr>
          <p:nvPr/>
        </p:nvCxnSpPr>
        <p:spPr>
          <a:xfrm>
            <a:off x="1457324" y="4119561"/>
            <a:ext cx="0" cy="771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68B346A4-3492-0596-A546-CA82D43A6C3C}"/>
              </a:ext>
            </a:extLst>
          </p:cNvPr>
          <p:cNvCxnSpPr>
            <a:cxnSpLocks/>
          </p:cNvCxnSpPr>
          <p:nvPr/>
        </p:nvCxnSpPr>
        <p:spPr>
          <a:xfrm>
            <a:off x="7562850" y="4110037"/>
            <a:ext cx="0" cy="771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1A32A37F-067E-9B7A-D3C7-AEE043F6508B}"/>
              </a:ext>
            </a:extLst>
          </p:cNvPr>
          <p:cNvCxnSpPr>
            <a:cxnSpLocks/>
          </p:cNvCxnSpPr>
          <p:nvPr/>
        </p:nvCxnSpPr>
        <p:spPr>
          <a:xfrm>
            <a:off x="10811250" y="4110036"/>
            <a:ext cx="0" cy="7715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AB7EEF53-296A-4BFA-BCDF-73F68DB3AAB6}"/>
              </a:ext>
            </a:extLst>
          </p:cNvPr>
          <p:cNvSpPr txBox="1"/>
          <p:nvPr/>
        </p:nvSpPr>
        <p:spPr>
          <a:xfrm>
            <a:off x="4328089" y="4891086"/>
            <a:ext cx="50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∅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A508BCC-8DBD-8833-4693-05338B6D1E9D}"/>
              </a:ext>
            </a:extLst>
          </p:cNvPr>
          <p:cNvSpPr txBox="1"/>
          <p:nvPr/>
        </p:nvSpPr>
        <p:spPr>
          <a:xfrm>
            <a:off x="10588751" y="4891086"/>
            <a:ext cx="50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∅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A791ED96-BF0B-0813-4669-F4D614488A8F}"/>
              </a:ext>
            </a:extLst>
          </p:cNvPr>
          <p:cNvSpPr txBox="1"/>
          <p:nvPr/>
        </p:nvSpPr>
        <p:spPr>
          <a:xfrm>
            <a:off x="7273671" y="4624237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…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ADACAF14-34C2-A969-9D6B-E26F9F63FACF}"/>
              </a:ext>
            </a:extLst>
          </p:cNvPr>
          <p:cNvSpPr txBox="1"/>
          <p:nvPr/>
        </p:nvSpPr>
        <p:spPr>
          <a:xfrm>
            <a:off x="1096379" y="4624237"/>
            <a:ext cx="6880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…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8811F611-49F9-C9D1-0CBC-302CB91598D7}"/>
              </a:ext>
            </a:extLst>
          </p:cNvPr>
          <p:cNvSpPr/>
          <p:nvPr/>
        </p:nvSpPr>
        <p:spPr>
          <a:xfrm>
            <a:off x="6405568" y="2539763"/>
            <a:ext cx="2525833" cy="315959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4673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FEA29A4-BE14-77A6-16B9-13794620F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rPr>
              <a:t>[</a:t>
            </a:r>
            <a:r>
              <a:rPr lang="en-US" sz="44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0</a:t>
            </a:r>
            <a:r>
              <a:rPr lang="en-US" sz="4400" kern="120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rPr>
              <a:t>, 1, </a:t>
            </a:r>
            <a:r>
              <a:rPr lang="en-US" sz="44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2</a:t>
            </a:r>
            <a:r>
              <a:rPr lang="en-US" sz="4400" kern="120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rPr>
              <a:t>, 3]</a:t>
            </a:r>
            <a:endParaRPr lang="en-US" kern="1200" dirty="0">
              <a:solidFill>
                <a:schemeClr val="bg2">
                  <a:lumMod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7C59FCFC-8D8D-F145-B041-D7471814C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4589" y="-11544"/>
            <a:ext cx="2464068" cy="688539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24913A2-4EA7-DF13-550A-851E30D3EB2E}"/>
              </a:ext>
            </a:extLst>
          </p:cNvPr>
          <p:cNvSpPr/>
          <p:nvPr/>
        </p:nvSpPr>
        <p:spPr>
          <a:xfrm>
            <a:off x="7179727" y="1138642"/>
            <a:ext cx="3295650" cy="584835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u="sng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C742DBC-EDBB-BAC5-BDB6-ACEFDFC72148}"/>
              </a:ext>
            </a:extLst>
          </p:cNvPr>
          <p:cNvSpPr/>
          <p:nvPr/>
        </p:nvSpPr>
        <p:spPr>
          <a:xfrm>
            <a:off x="7964216" y="2462714"/>
            <a:ext cx="1126066" cy="36840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u="sng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133658E-7CA4-B2F3-5181-FAF6A6BD9F6D}"/>
              </a:ext>
            </a:extLst>
          </p:cNvPr>
          <p:cNvSpPr/>
          <p:nvPr/>
        </p:nvSpPr>
        <p:spPr>
          <a:xfrm>
            <a:off x="9166834" y="2438943"/>
            <a:ext cx="1126066" cy="36840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u="sng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6C957F0-4122-5517-6E84-AE6ECE29C09B}"/>
              </a:ext>
            </a:extLst>
          </p:cNvPr>
          <p:cNvSpPr txBox="1"/>
          <p:nvPr/>
        </p:nvSpPr>
        <p:spPr>
          <a:xfrm>
            <a:off x="9810514" y="1714011"/>
            <a:ext cx="1467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Même calcul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8B9EBB5-FA68-395B-CAF1-5A84F931EE58}"/>
              </a:ext>
            </a:extLst>
          </p:cNvPr>
          <p:cNvCxnSpPr>
            <a:cxnSpLocks/>
          </p:cNvCxnSpPr>
          <p:nvPr/>
        </p:nvCxnSpPr>
        <p:spPr>
          <a:xfrm flipH="1">
            <a:off x="8712200" y="1898677"/>
            <a:ext cx="1079578" cy="3703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61101268-7913-0E72-82DD-ED9AD0BF60B6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10041467" y="2083343"/>
            <a:ext cx="502710" cy="379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36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 0.00881 L -0.003 0.16737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0.15857 L 0.00078 0.3891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1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38912 L 1.45833E-6 0.6252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1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  <p:bldP spid="11" grpId="0" animBg="1"/>
      <p:bldP spid="15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5B9AE-51DC-CA3E-5E0C-59FFC0CC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F5DB3F-7CF5-EBF3-78B2-A9948A53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[</a:t>
            </a:r>
            <a:r>
              <a:rPr lang="en-US" sz="36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0</a:t>
            </a:r>
            <a: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1, 2, 3,</a:t>
            </a:r>
            <a:b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4</a:t>
            </a:r>
            <a: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5, 6, 7]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146E4F2A-46FC-F0D5-318B-CFE9B2254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" r="49034" b="78854"/>
          <a:stretch/>
        </p:blipFill>
        <p:spPr>
          <a:xfrm>
            <a:off x="5786378" y="1189702"/>
            <a:ext cx="4778289" cy="4306529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530DC30E-E853-0475-0269-F3C62E402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587614" y="-37201"/>
            <a:ext cx="3175818" cy="6898267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4EA97B6B-6E8B-0621-E4CE-EEF858670450}"/>
              </a:ext>
            </a:extLst>
          </p:cNvPr>
          <p:cNvSpPr/>
          <p:nvPr/>
        </p:nvSpPr>
        <p:spPr>
          <a:xfrm>
            <a:off x="6309579" y="1430867"/>
            <a:ext cx="1886153" cy="49256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u="sng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A278554-B0DD-1421-08EF-1278525CC770}"/>
              </a:ext>
            </a:extLst>
          </p:cNvPr>
          <p:cNvSpPr/>
          <p:nvPr/>
        </p:nvSpPr>
        <p:spPr>
          <a:xfrm>
            <a:off x="7948384" y="1247583"/>
            <a:ext cx="2097168" cy="52922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u="sng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143AA2-B53D-CB71-D413-8356EAEA95BD}"/>
              </a:ext>
            </a:extLst>
          </p:cNvPr>
          <p:cNvSpPr txBox="1"/>
          <p:nvPr/>
        </p:nvSpPr>
        <p:spPr>
          <a:xfrm>
            <a:off x="9430387" y="726208"/>
            <a:ext cx="1467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Même calcul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D3F169EA-75B0-01FE-D4BC-361A0FA9E4B2}"/>
              </a:ext>
            </a:extLst>
          </p:cNvPr>
          <p:cNvCxnSpPr>
            <a:cxnSpLocks/>
          </p:cNvCxnSpPr>
          <p:nvPr/>
        </p:nvCxnSpPr>
        <p:spPr>
          <a:xfrm flipH="1">
            <a:off x="7796836" y="975567"/>
            <a:ext cx="1515053" cy="3347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87FEAC5-FC34-46A2-4986-C98116B15054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9661340" y="1095540"/>
            <a:ext cx="502710" cy="379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91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34000" y="34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48148E-6 L -0.06354 -0.3858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77" y="-1930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8DC70-2B82-97FA-CB58-97627B76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63A449-37A4-7021-4FEE-9238E8B09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03" y="1078224"/>
            <a:ext cx="3768917" cy="16061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Point critique :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CEE05444-665E-306A-9FF6-CBEBBE153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1006" y="-11544"/>
            <a:ext cx="2747651" cy="6885391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012067E0-27FC-53B3-AD17-48DCD86828B4}"/>
              </a:ext>
            </a:extLst>
          </p:cNvPr>
          <p:cNvCxnSpPr>
            <a:cxnSpLocks/>
          </p:cNvCxnSpPr>
          <p:nvPr/>
        </p:nvCxnSpPr>
        <p:spPr>
          <a:xfrm flipV="1">
            <a:off x="4156820" y="2238375"/>
            <a:ext cx="4253755" cy="82038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360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0DA78F-4FB9-F33B-E216-978D9D1A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L’idée :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C3E827E2-C5BE-EAF5-C55F-C7CAA7061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0883" b="51830"/>
          <a:stretch/>
        </p:blipFill>
        <p:spPr>
          <a:xfrm>
            <a:off x="4047705" y="1452033"/>
            <a:ext cx="4409950" cy="395393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F48BBC1-DB35-3CC0-9E5C-B69C2087FE6A}"/>
              </a:ext>
            </a:extLst>
          </p:cNvPr>
          <p:cNvSpPr txBox="1"/>
          <p:nvPr/>
        </p:nvSpPr>
        <p:spPr>
          <a:xfrm>
            <a:off x="406399" y="4951968"/>
            <a:ext cx="4770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Point de synchronisation :</a:t>
            </a:r>
          </a:p>
          <a:p>
            <a:r>
              <a:rPr lang="fr-FR" dirty="0">
                <a:solidFill>
                  <a:srgbClr val="FF0000"/>
                </a:solidFill>
              </a:rPr>
              <a:t>On traite le résultat avant de lancer les calculs</a:t>
            </a:r>
          </a:p>
        </p:txBody>
      </p:sp>
    </p:spTree>
    <p:extLst>
      <p:ext uri="{BB962C8B-B14F-4D97-AF65-F5344CB8AC3E}">
        <p14:creationId xmlns:p14="http://schemas.microsoft.com/office/powerpoint/2010/main" val="2487826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79CE7-C904-BBED-2DAC-99F14292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ZoneTexte 24">
            <a:extLst>
              <a:ext uri="{FF2B5EF4-FFF2-40B4-BE49-F238E27FC236}">
                <a16:creationId xmlns:a16="http://schemas.microsoft.com/office/drawing/2014/main" id="{738A5D87-FC35-07BC-9B5D-6FE91A5EC8DF}"/>
              </a:ext>
            </a:extLst>
          </p:cNvPr>
          <p:cNvSpPr txBox="1"/>
          <p:nvPr/>
        </p:nvSpPr>
        <p:spPr>
          <a:xfrm>
            <a:off x="3930776" y="3967163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✖  ✖  </a:t>
            </a:r>
            <a:r>
              <a:rPr lang="fr-FR" sz="4000" dirty="0"/>
              <a:t>| </a:t>
            </a:r>
            <a:r>
              <a:rPr lang="fr-FR" sz="2400" dirty="0"/>
              <a:t>✖  ✖  </a:t>
            </a:r>
            <a:r>
              <a:rPr lang="fr-FR" sz="4000" dirty="0"/>
              <a:t>|</a:t>
            </a:r>
            <a:r>
              <a:rPr lang="fr-FR" sz="2400" dirty="0"/>
              <a:t>  </a:t>
            </a:r>
            <a:r>
              <a:rPr lang="fr-FR" sz="2400" dirty="0">
                <a:solidFill>
                  <a:srgbClr val="B2B2B2"/>
                </a:solidFill>
              </a:rPr>
              <a:t>✖  ✖</a:t>
            </a:r>
            <a:r>
              <a:rPr lang="fr-FR" sz="4000" dirty="0"/>
              <a:t> |</a:t>
            </a:r>
            <a:r>
              <a:rPr lang="fr-FR" sz="2400" dirty="0"/>
              <a:t>  </a:t>
            </a:r>
            <a:r>
              <a:rPr lang="fr-FR" sz="2400" dirty="0">
                <a:solidFill>
                  <a:srgbClr val="B2B2B2"/>
                </a:solidFill>
              </a:rPr>
              <a:t>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•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A4834E5-8474-6A80-D0EA-6B4A6C45C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L’idée : Séparer les </a:t>
            </a:r>
            <a:r>
              <a:rPr lang="fr-FR" dirty="0" err="1"/>
              <a:t>failing</a:t>
            </a:r>
            <a:r>
              <a:rPr lang="fr-FR" dirty="0"/>
              <a:t> sets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E12A58-947E-99C1-03C7-70CBADC73084}"/>
              </a:ext>
            </a:extLst>
          </p:cNvPr>
          <p:cNvSpPr txBox="1"/>
          <p:nvPr/>
        </p:nvSpPr>
        <p:spPr>
          <a:xfrm>
            <a:off x="4140326" y="1506022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✖  ✖  </a:t>
            </a:r>
            <a:r>
              <a:rPr lang="fr-FR" sz="4000" dirty="0"/>
              <a:t>| </a:t>
            </a:r>
            <a:r>
              <a:rPr lang="fr-FR" sz="2400" dirty="0"/>
              <a:t>✖  ✖  </a:t>
            </a:r>
            <a:r>
              <a:rPr lang="fr-FR" sz="4000" dirty="0"/>
              <a:t>|</a:t>
            </a:r>
            <a:r>
              <a:rPr lang="fr-FR" sz="2400" dirty="0"/>
              <a:t>  ✖  ✖</a:t>
            </a:r>
            <a:r>
              <a:rPr lang="fr-FR" sz="4000" dirty="0"/>
              <a:t> |</a:t>
            </a:r>
            <a:r>
              <a:rPr lang="fr-FR" sz="2400" dirty="0"/>
              <a:t>  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•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4ADA31D-8316-38F8-4803-E70730DB88AF}"/>
              </a:ext>
            </a:extLst>
          </p:cNvPr>
          <p:cNvSpPr txBox="1"/>
          <p:nvPr/>
        </p:nvSpPr>
        <p:spPr>
          <a:xfrm>
            <a:off x="6273926" y="1690688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</a:t>
            </a:r>
            <a:r>
              <a:rPr lang="fr-FR" sz="2400" dirty="0">
                <a:solidFill>
                  <a:srgbClr val="B2B2B2"/>
                </a:solidFill>
              </a:rPr>
              <a:t>✖  ✖</a:t>
            </a:r>
            <a:r>
              <a:rPr lang="fr-FR" sz="2400" dirty="0"/>
              <a:t>  </a:t>
            </a:r>
            <a:r>
              <a:rPr lang="fr-FR" sz="4000" dirty="0"/>
              <a:t>| </a:t>
            </a:r>
            <a:r>
              <a:rPr lang="fr-FR" sz="2400" dirty="0"/>
              <a:t>✖  ✖  </a:t>
            </a:r>
            <a:r>
              <a:rPr lang="fr-FR" sz="4000" dirty="0"/>
              <a:t>|</a:t>
            </a:r>
            <a:r>
              <a:rPr lang="fr-FR" sz="2400" dirty="0"/>
              <a:t>  ✖  ✖</a:t>
            </a:r>
            <a:r>
              <a:rPr lang="fr-FR" sz="4000" dirty="0"/>
              <a:t> |</a:t>
            </a:r>
            <a:r>
              <a:rPr lang="fr-FR" sz="2400" dirty="0"/>
              <a:t>  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•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0780510-33F0-93A0-B4AC-4CCC7BF3C588}"/>
              </a:ext>
            </a:extLst>
          </p:cNvPr>
          <p:cNvSpPr txBox="1"/>
          <p:nvPr/>
        </p:nvSpPr>
        <p:spPr>
          <a:xfrm>
            <a:off x="6273926" y="2890391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✖  ✖  </a:t>
            </a:r>
            <a:r>
              <a:rPr lang="fr-FR" sz="4000" dirty="0"/>
              <a:t>| </a:t>
            </a:r>
            <a:r>
              <a:rPr lang="fr-FR" sz="2400" dirty="0">
                <a:solidFill>
                  <a:srgbClr val="B2B2B2"/>
                </a:solidFill>
              </a:rPr>
              <a:t>✖  ✖</a:t>
            </a:r>
            <a:r>
              <a:rPr lang="fr-FR" sz="2400" dirty="0"/>
              <a:t>  </a:t>
            </a:r>
            <a:r>
              <a:rPr lang="fr-FR" sz="4000" dirty="0"/>
              <a:t>|</a:t>
            </a:r>
            <a:r>
              <a:rPr lang="fr-FR" sz="2400" dirty="0"/>
              <a:t>  ✖  ✖</a:t>
            </a:r>
            <a:r>
              <a:rPr lang="fr-FR" sz="4000" dirty="0"/>
              <a:t> |</a:t>
            </a:r>
            <a:r>
              <a:rPr lang="fr-FR" sz="2400" dirty="0"/>
              <a:t>  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•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238407B-0436-9663-2723-AD8E046B702B}"/>
              </a:ext>
            </a:extLst>
          </p:cNvPr>
          <p:cNvSpPr txBox="1"/>
          <p:nvPr/>
        </p:nvSpPr>
        <p:spPr>
          <a:xfrm>
            <a:off x="6273926" y="4090094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✖  ✖  </a:t>
            </a:r>
            <a:r>
              <a:rPr lang="fr-FR" sz="4000" dirty="0"/>
              <a:t>| </a:t>
            </a:r>
            <a:r>
              <a:rPr lang="fr-FR" sz="2400" dirty="0"/>
              <a:t>✖  ✖  </a:t>
            </a:r>
            <a:r>
              <a:rPr lang="fr-FR" sz="4000" dirty="0"/>
              <a:t>|</a:t>
            </a:r>
            <a:r>
              <a:rPr lang="fr-FR" sz="2400" dirty="0"/>
              <a:t>  </a:t>
            </a:r>
            <a:r>
              <a:rPr lang="fr-FR" sz="2400" dirty="0">
                <a:solidFill>
                  <a:srgbClr val="B2B2B2"/>
                </a:solidFill>
              </a:rPr>
              <a:t>✖  ✖</a:t>
            </a:r>
            <a:r>
              <a:rPr lang="fr-FR" sz="4000" dirty="0"/>
              <a:t> |</a:t>
            </a:r>
            <a:r>
              <a:rPr lang="fr-FR" sz="2400" dirty="0"/>
              <a:t>  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•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DE16568-8CF3-1003-653C-82618080AD34}"/>
              </a:ext>
            </a:extLst>
          </p:cNvPr>
          <p:cNvSpPr txBox="1"/>
          <p:nvPr/>
        </p:nvSpPr>
        <p:spPr>
          <a:xfrm>
            <a:off x="6273926" y="5289797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✖  ✖  </a:t>
            </a:r>
            <a:r>
              <a:rPr lang="fr-FR" sz="4000" dirty="0"/>
              <a:t>| </a:t>
            </a:r>
            <a:r>
              <a:rPr lang="fr-FR" sz="2400" dirty="0"/>
              <a:t>✖  ✖  </a:t>
            </a:r>
            <a:r>
              <a:rPr lang="fr-FR" sz="4000" dirty="0"/>
              <a:t>|</a:t>
            </a:r>
            <a:r>
              <a:rPr lang="fr-FR" sz="2400" dirty="0"/>
              <a:t>  ✖  ✖</a:t>
            </a:r>
            <a:r>
              <a:rPr lang="fr-FR" sz="4000" dirty="0"/>
              <a:t> |</a:t>
            </a:r>
            <a:r>
              <a:rPr lang="fr-FR" sz="2400" dirty="0"/>
              <a:t>  </a:t>
            </a:r>
            <a:r>
              <a:rPr lang="fr-FR" sz="2400" dirty="0">
                <a:solidFill>
                  <a:srgbClr val="B2B2B2"/>
                </a:solidFill>
              </a:rPr>
              <a:t>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•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EF3A39A-9433-293A-FEBE-F3E6F3FB3694}"/>
              </a:ext>
            </a:extLst>
          </p:cNvPr>
          <p:cNvSpPr txBox="1"/>
          <p:nvPr/>
        </p:nvSpPr>
        <p:spPr>
          <a:xfrm>
            <a:off x="10185274" y="2044631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A260E2F-D864-FA69-5136-3D56F9932475}"/>
              </a:ext>
            </a:extLst>
          </p:cNvPr>
          <p:cNvSpPr txBox="1"/>
          <p:nvPr/>
        </p:nvSpPr>
        <p:spPr>
          <a:xfrm>
            <a:off x="10185274" y="3244334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682D8AE-BEFA-0B37-C86D-B96980C0B338}"/>
              </a:ext>
            </a:extLst>
          </p:cNvPr>
          <p:cNvSpPr txBox="1"/>
          <p:nvPr/>
        </p:nvSpPr>
        <p:spPr>
          <a:xfrm>
            <a:off x="10185274" y="4444037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8CBACD2-A10C-F370-FCDB-58D4499D34C7}"/>
              </a:ext>
            </a:extLst>
          </p:cNvPr>
          <p:cNvSpPr txBox="1"/>
          <p:nvPr/>
        </p:nvSpPr>
        <p:spPr>
          <a:xfrm>
            <a:off x="10185274" y="5643740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sp>
        <p:nvSpPr>
          <p:cNvPr id="26" name="Arc plein 25">
            <a:extLst>
              <a:ext uri="{FF2B5EF4-FFF2-40B4-BE49-F238E27FC236}">
                <a16:creationId xmlns:a16="http://schemas.microsoft.com/office/drawing/2014/main" id="{A9644911-77EA-DCAF-1BC4-4B6DC4E6EFF5}"/>
              </a:ext>
            </a:extLst>
          </p:cNvPr>
          <p:cNvSpPr/>
          <p:nvPr/>
        </p:nvSpPr>
        <p:spPr>
          <a:xfrm>
            <a:off x="5886450" y="2429418"/>
            <a:ext cx="313266" cy="804333"/>
          </a:xfrm>
          <a:prstGeom prst="blockArc">
            <a:avLst/>
          </a:prstGeom>
          <a:noFill/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000" dirty="0">
                <a:solidFill>
                  <a:schemeClr val="tx1"/>
                </a:solidFill>
              </a:rPr>
              <a:t>∩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6690653-F93E-61F6-E18F-1CC863F18EB8}"/>
              </a:ext>
            </a:extLst>
          </p:cNvPr>
          <p:cNvSpPr txBox="1"/>
          <p:nvPr/>
        </p:nvSpPr>
        <p:spPr>
          <a:xfrm>
            <a:off x="3876557" y="5351532"/>
            <a:ext cx="417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Intersection des deux complémentaires</a:t>
            </a:r>
          </a:p>
        </p:txBody>
      </p:sp>
      <p:sp>
        <p:nvSpPr>
          <p:cNvPr id="24" name="Explosion : 14 points 23">
            <a:extLst>
              <a:ext uri="{FF2B5EF4-FFF2-40B4-BE49-F238E27FC236}">
                <a16:creationId xmlns:a16="http://schemas.microsoft.com/office/drawing/2014/main" id="{9858D71D-2C5C-1477-B143-9CFC74DC74BF}"/>
              </a:ext>
            </a:extLst>
          </p:cNvPr>
          <p:cNvSpPr/>
          <p:nvPr/>
        </p:nvSpPr>
        <p:spPr>
          <a:xfrm>
            <a:off x="542925" y="-2162175"/>
            <a:ext cx="11401425" cy="9344025"/>
          </a:xfrm>
          <a:prstGeom prst="irregularSeal2">
            <a:avLst/>
          </a:prstGeom>
          <a:solidFill>
            <a:srgbClr val="FFFF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571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-0.32083 0.2803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42" y="14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48148E-6 L 0.06406 -0.27107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3" y="-13565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48148E-6 L -0.40391 -0.44607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95" y="-2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0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8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21600000">
                                      <p:cBhvr>
                                        <p:cTn id="72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8" presetClass="emp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74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8" presetClass="emph" presetSubtype="0" fill="hold" grpId="4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21600000">
                                      <p:cBhvr>
                                        <p:cTn id="7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2.22222E-6 L -0.00677 0.2331 " pathEditMode="relative" rAng="0" ptsTypes="AA">
                                      <p:cBhvr>
                                        <p:cTn id="78" dur="1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11644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8" presetClass="emph" presetSubtype="0" fill="hold" grpId="6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21600000">
                                      <p:cBhvr>
                                        <p:cTn id="83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" presetID="8" presetClass="emph" presetSubtype="0" fill="hold" grpId="8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21600000">
                                      <p:cBhvr>
                                        <p:cTn id="85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" presetID="8" presetClass="emph" presetSubtype="0" fill="hold" grpId="9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21600000">
                                      <p:cBhvr>
                                        <p:cTn id="87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8" presetClass="emph" presetSubtype="0" fill="hold" grpId="10" nodeType="withEffect">
                                  <p:stCondLst>
                                    <p:cond delay="1900"/>
                                  </p:stCondLst>
                                  <p:childTnLst>
                                    <p:animRot by="21600000">
                                      <p:cBhvr>
                                        <p:cTn id="89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" presetID="53" presetClass="exit" presetSubtype="32" fill="hold" grpId="7" nodeType="withEffect">
                                  <p:stCondLst>
                                    <p:cond delay="160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9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9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7" grpId="0" animBg="1"/>
      <p:bldP spid="7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6" grpId="0" animBg="1"/>
      <p:bldP spid="27" grpId="0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02033-AE69-DA5B-8F09-C45CBE4C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372D5-C918-35B7-308C-DD42079E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L’idée : problèmes de collision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FF38B1-D2F3-56C4-8FD5-FE63D3D882BB}"/>
              </a:ext>
            </a:extLst>
          </p:cNvPr>
          <p:cNvSpPr txBox="1"/>
          <p:nvPr/>
        </p:nvSpPr>
        <p:spPr>
          <a:xfrm>
            <a:off x="332442" y="3429000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✖  ✖  </a:t>
            </a:r>
            <a:r>
              <a:rPr lang="fr-FR" sz="4000" dirty="0"/>
              <a:t>| </a:t>
            </a:r>
            <a:r>
              <a:rPr lang="fr-FR" sz="2400" dirty="0"/>
              <a:t>✖  ✖  </a:t>
            </a:r>
            <a:r>
              <a:rPr lang="fr-FR" sz="4000" dirty="0"/>
              <a:t>|</a:t>
            </a:r>
            <a:r>
              <a:rPr lang="fr-FR" sz="2400" dirty="0"/>
              <a:t>  ✖  ✖</a:t>
            </a:r>
            <a:r>
              <a:rPr lang="fr-FR" sz="4000" dirty="0"/>
              <a:t> |</a:t>
            </a:r>
            <a:r>
              <a:rPr lang="fr-FR" sz="2400" dirty="0"/>
              <a:t>  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 </a:t>
            </a:r>
            <a:r>
              <a:rPr lang="fr-FR" sz="2400" dirty="0">
                <a:solidFill>
                  <a:schemeClr val="accent4"/>
                </a:solidFill>
              </a:rPr>
              <a:t>•       </a:t>
            </a:r>
            <a:r>
              <a:rPr lang="fr-FR" sz="2400" dirty="0">
                <a:solidFill>
                  <a:srgbClr val="FF0000"/>
                </a:solidFill>
              </a:rPr>
              <a:t>•</a:t>
            </a:r>
            <a:r>
              <a:rPr lang="fr-FR" sz="24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763C37D-E3FB-38A4-224F-E3E7E6A4AD41}"/>
              </a:ext>
            </a:extLst>
          </p:cNvPr>
          <p:cNvSpPr txBox="1"/>
          <p:nvPr/>
        </p:nvSpPr>
        <p:spPr>
          <a:xfrm>
            <a:off x="7004302" y="1438968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</a:t>
            </a:r>
            <a:r>
              <a:rPr lang="fr-FR" sz="2400" dirty="0">
                <a:solidFill>
                  <a:srgbClr val="B2B2B2"/>
                </a:solidFill>
              </a:rPr>
              <a:t>✖  ✖  </a:t>
            </a:r>
            <a:r>
              <a:rPr lang="fr-FR" sz="4000" dirty="0"/>
              <a:t>| </a:t>
            </a:r>
            <a:r>
              <a:rPr lang="fr-FR" sz="2400" dirty="0"/>
              <a:t>✖  ✖  </a:t>
            </a:r>
            <a:r>
              <a:rPr lang="fr-FR" sz="4000" dirty="0"/>
              <a:t>|</a:t>
            </a:r>
            <a:r>
              <a:rPr lang="fr-FR" sz="2400" dirty="0"/>
              <a:t>  ✖  ✖</a:t>
            </a:r>
            <a:r>
              <a:rPr lang="fr-FR" sz="4000" dirty="0"/>
              <a:t> |</a:t>
            </a:r>
            <a:r>
              <a:rPr lang="fr-FR" sz="2400" dirty="0"/>
              <a:t>  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 </a:t>
            </a:r>
            <a:r>
              <a:rPr lang="fr-FR" sz="2400" dirty="0">
                <a:solidFill>
                  <a:schemeClr val="accent4"/>
                </a:solidFill>
              </a:rPr>
              <a:t>•       </a:t>
            </a:r>
            <a:r>
              <a:rPr lang="fr-FR" sz="2400" dirty="0">
                <a:solidFill>
                  <a:srgbClr val="FF0000"/>
                </a:solidFill>
              </a:rPr>
              <a:t>•</a:t>
            </a:r>
            <a:r>
              <a:rPr lang="fr-FR" sz="24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26893A7-0F3D-4F00-5FCB-0E424FC85A65}"/>
              </a:ext>
            </a:extLst>
          </p:cNvPr>
          <p:cNvSpPr txBox="1"/>
          <p:nvPr/>
        </p:nvSpPr>
        <p:spPr>
          <a:xfrm>
            <a:off x="7004302" y="2764531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✖  ✖  </a:t>
            </a:r>
            <a:r>
              <a:rPr lang="fr-FR" sz="4000" dirty="0"/>
              <a:t>| </a:t>
            </a:r>
            <a:r>
              <a:rPr lang="fr-FR" sz="2400" dirty="0">
                <a:solidFill>
                  <a:srgbClr val="B2B2B2"/>
                </a:solidFill>
              </a:rPr>
              <a:t>✖  ✖</a:t>
            </a:r>
            <a:r>
              <a:rPr lang="fr-FR" sz="2400" dirty="0"/>
              <a:t>  </a:t>
            </a:r>
            <a:r>
              <a:rPr lang="fr-FR" sz="4000" dirty="0"/>
              <a:t>|</a:t>
            </a:r>
            <a:r>
              <a:rPr lang="fr-FR" sz="2400" dirty="0"/>
              <a:t>  ✖  ✖</a:t>
            </a:r>
            <a:r>
              <a:rPr lang="fr-FR" sz="4000" dirty="0"/>
              <a:t> |</a:t>
            </a:r>
            <a:r>
              <a:rPr lang="fr-FR" sz="2400" dirty="0"/>
              <a:t>  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 </a:t>
            </a:r>
            <a:r>
              <a:rPr lang="fr-FR" sz="2400" dirty="0">
                <a:solidFill>
                  <a:schemeClr val="accent4"/>
                </a:solidFill>
              </a:rPr>
              <a:t>•       </a:t>
            </a:r>
            <a:r>
              <a:rPr lang="fr-FR" sz="2400" dirty="0">
                <a:solidFill>
                  <a:srgbClr val="FF0000"/>
                </a:solidFill>
              </a:rPr>
              <a:t>•</a:t>
            </a:r>
            <a:r>
              <a:rPr lang="fr-FR" sz="24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0E1A09-F2FC-5B31-E600-619859673E26}"/>
              </a:ext>
            </a:extLst>
          </p:cNvPr>
          <p:cNvSpPr txBox="1"/>
          <p:nvPr/>
        </p:nvSpPr>
        <p:spPr>
          <a:xfrm>
            <a:off x="7004302" y="4090094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✖  ✖  </a:t>
            </a:r>
            <a:r>
              <a:rPr lang="fr-FR" sz="4000" dirty="0"/>
              <a:t>| </a:t>
            </a:r>
            <a:r>
              <a:rPr lang="fr-FR" sz="2400" dirty="0"/>
              <a:t>✖  ✖  </a:t>
            </a:r>
            <a:r>
              <a:rPr lang="fr-FR" sz="4000" dirty="0"/>
              <a:t>|</a:t>
            </a:r>
            <a:r>
              <a:rPr lang="fr-FR" sz="2400" dirty="0"/>
              <a:t>  </a:t>
            </a:r>
            <a:r>
              <a:rPr lang="fr-FR" sz="2400" dirty="0">
                <a:solidFill>
                  <a:srgbClr val="B2B2B2"/>
                </a:solidFill>
              </a:rPr>
              <a:t>✖  ✖</a:t>
            </a:r>
            <a:r>
              <a:rPr lang="fr-FR" sz="4000" dirty="0">
                <a:solidFill>
                  <a:srgbClr val="B2B2B2"/>
                </a:solidFill>
              </a:rPr>
              <a:t> </a:t>
            </a:r>
            <a:r>
              <a:rPr lang="fr-FR" sz="4000" dirty="0"/>
              <a:t>|</a:t>
            </a:r>
            <a:r>
              <a:rPr lang="fr-FR" sz="2400" dirty="0"/>
              <a:t>  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 </a:t>
            </a:r>
            <a:r>
              <a:rPr lang="fr-FR" sz="2400" dirty="0">
                <a:solidFill>
                  <a:schemeClr val="accent4"/>
                </a:solidFill>
              </a:rPr>
              <a:t>•       </a:t>
            </a:r>
            <a:r>
              <a:rPr lang="fr-FR" sz="2400" dirty="0">
                <a:solidFill>
                  <a:srgbClr val="FF0000"/>
                </a:solidFill>
              </a:rPr>
              <a:t>•</a:t>
            </a:r>
            <a:r>
              <a:rPr lang="fr-FR" sz="24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684703F-5E2F-817C-CC13-9B447B2F8F8F}"/>
              </a:ext>
            </a:extLst>
          </p:cNvPr>
          <p:cNvSpPr txBox="1"/>
          <p:nvPr/>
        </p:nvSpPr>
        <p:spPr>
          <a:xfrm>
            <a:off x="7004302" y="5415657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✖  ✖  </a:t>
            </a:r>
            <a:r>
              <a:rPr lang="fr-FR" sz="4000" dirty="0"/>
              <a:t>| </a:t>
            </a:r>
            <a:r>
              <a:rPr lang="fr-FR" sz="2400" dirty="0"/>
              <a:t>✖  ✖  </a:t>
            </a:r>
            <a:r>
              <a:rPr lang="fr-FR" sz="4000" dirty="0"/>
              <a:t>|</a:t>
            </a:r>
            <a:r>
              <a:rPr lang="fr-FR" sz="2400" dirty="0"/>
              <a:t>  ✖  ✖</a:t>
            </a:r>
            <a:r>
              <a:rPr lang="fr-FR" sz="4000" dirty="0"/>
              <a:t> |</a:t>
            </a:r>
            <a:r>
              <a:rPr lang="fr-FR" sz="2400" dirty="0"/>
              <a:t>  </a:t>
            </a:r>
            <a:r>
              <a:rPr lang="fr-FR" sz="2400" dirty="0">
                <a:solidFill>
                  <a:srgbClr val="B2B2B2"/>
                </a:solidFill>
              </a:rPr>
              <a:t>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 </a:t>
            </a:r>
            <a:r>
              <a:rPr lang="fr-FR" sz="2400" dirty="0">
                <a:solidFill>
                  <a:schemeClr val="accent4"/>
                </a:solidFill>
              </a:rPr>
              <a:t>•       </a:t>
            </a:r>
            <a:r>
              <a:rPr lang="fr-FR" sz="2400" dirty="0">
                <a:solidFill>
                  <a:srgbClr val="FF0000"/>
                </a:solidFill>
              </a:rPr>
              <a:t>•</a:t>
            </a:r>
            <a:r>
              <a:rPr lang="fr-FR" sz="24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9A7BBAB-DE5B-C0A3-48E6-D94331B500FE}"/>
              </a:ext>
            </a:extLst>
          </p:cNvPr>
          <p:cNvSpPr txBox="1"/>
          <p:nvPr/>
        </p:nvSpPr>
        <p:spPr>
          <a:xfrm>
            <a:off x="10915650" y="1792911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554EEA3-40C6-081C-244D-6C1FA3F3AD8C}"/>
              </a:ext>
            </a:extLst>
          </p:cNvPr>
          <p:cNvSpPr txBox="1"/>
          <p:nvPr/>
        </p:nvSpPr>
        <p:spPr>
          <a:xfrm>
            <a:off x="10915650" y="3118474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66127E0-78E5-669C-237F-9401E1A6EF64}"/>
              </a:ext>
            </a:extLst>
          </p:cNvPr>
          <p:cNvSpPr txBox="1"/>
          <p:nvPr/>
        </p:nvSpPr>
        <p:spPr>
          <a:xfrm>
            <a:off x="10915650" y="4444037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✅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C69589F-C572-2FCC-C05A-21BA733D8548}"/>
              </a:ext>
            </a:extLst>
          </p:cNvPr>
          <p:cNvSpPr txBox="1"/>
          <p:nvPr/>
        </p:nvSpPr>
        <p:spPr>
          <a:xfrm>
            <a:off x="10915650" y="5769600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❌ 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E224C24-4A55-DDBC-4016-E985485E3B16}"/>
              </a:ext>
            </a:extLst>
          </p:cNvPr>
          <p:cNvCxnSpPr>
            <a:cxnSpLocks/>
            <a:stCxn id="7" idx="1"/>
            <a:endCxn id="3" idx="3"/>
          </p:cNvCxnSpPr>
          <p:nvPr/>
        </p:nvCxnSpPr>
        <p:spPr>
          <a:xfrm flipH="1">
            <a:off x="4243790" y="3303140"/>
            <a:ext cx="2760512" cy="66446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51211FF5-658E-2431-E9E6-D8DEC44F2B80}"/>
              </a:ext>
            </a:extLst>
          </p:cNvPr>
          <p:cNvCxnSpPr>
            <a:cxnSpLocks/>
            <a:stCxn id="6" idx="1"/>
            <a:endCxn id="3" idx="3"/>
          </p:cNvCxnSpPr>
          <p:nvPr/>
        </p:nvCxnSpPr>
        <p:spPr>
          <a:xfrm flipH="1">
            <a:off x="4243790" y="1977577"/>
            <a:ext cx="2760512" cy="19900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4E8D1383-1ED5-4993-ED88-1698C8292559}"/>
              </a:ext>
            </a:extLst>
          </p:cNvPr>
          <p:cNvCxnSpPr>
            <a:cxnSpLocks/>
            <a:stCxn id="9" idx="1"/>
            <a:endCxn id="3" idx="3"/>
          </p:cNvCxnSpPr>
          <p:nvPr/>
        </p:nvCxnSpPr>
        <p:spPr>
          <a:xfrm flipH="1" flipV="1">
            <a:off x="4243790" y="3967609"/>
            <a:ext cx="2760512" cy="19866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0E44F24D-97C6-45D5-CCD3-A651A524407A}"/>
              </a:ext>
            </a:extLst>
          </p:cNvPr>
          <p:cNvSpPr txBox="1"/>
          <p:nvPr/>
        </p:nvSpPr>
        <p:spPr>
          <a:xfrm>
            <a:off x="332442" y="3429000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</a:t>
            </a:r>
            <a:r>
              <a:rPr lang="fr-FR" sz="2400" dirty="0">
                <a:solidFill>
                  <a:srgbClr val="B2B2B2"/>
                </a:solidFill>
              </a:rPr>
              <a:t>✖  ✖  </a:t>
            </a:r>
            <a:r>
              <a:rPr lang="fr-FR" sz="4000" dirty="0"/>
              <a:t>| </a:t>
            </a:r>
            <a:r>
              <a:rPr lang="fr-FR" sz="2400" dirty="0">
                <a:solidFill>
                  <a:srgbClr val="B2B2B2"/>
                </a:solidFill>
              </a:rPr>
              <a:t>✖  ✖  </a:t>
            </a:r>
            <a:r>
              <a:rPr lang="fr-FR" sz="4000" dirty="0"/>
              <a:t>|</a:t>
            </a:r>
            <a:r>
              <a:rPr lang="fr-FR" sz="2400" dirty="0"/>
              <a:t>  ✖  ✖</a:t>
            </a:r>
            <a:r>
              <a:rPr lang="fr-FR" sz="4000" dirty="0"/>
              <a:t> |</a:t>
            </a:r>
            <a:r>
              <a:rPr lang="fr-FR" sz="2400" dirty="0"/>
              <a:t>  </a:t>
            </a:r>
            <a:r>
              <a:rPr lang="fr-FR" sz="2400" dirty="0">
                <a:solidFill>
                  <a:srgbClr val="B2B2B2"/>
                </a:solidFill>
              </a:rPr>
              <a:t>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 </a:t>
            </a:r>
            <a:r>
              <a:rPr lang="fr-FR" sz="2400" dirty="0">
                <a:solidFill>
                  <a:schemeClr val="accent4"/>
                </a:solidFill>
              </a:rPr>
              <a:t>•       </a:t>
            </a:r>
            <a:r>
              <a:rPr lang="fr-FR" sz="2400" dirty="0">
                <a:solidFill>
                  <a:srgbClr val="FF0000"/>
                </a:solidFill>
              </a:rPr>
              <a:t>•</a:t>
            </a:r>
            <a:r>
              <a:rPr lang="fr-FR" sz="24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C302A41-3F17-8081-F46A-4A786AD048AB}"/>
              </a:ext>
            </a:extLst>
          </p:cNvPr>
          <p:cNvSpPr txBox="1"/>
          <p:nvPr/>
        </p:nvSpPr>
        <p:spPr>
          <a:xfrm>
            <a:off x="410422" y="4638756"/>
            <a:ext cx="37553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L’intersection des complémentaires</a:t>
            </a:r>
          </a:p>
          <a:p>
            <a:r>
              <a:rPr lang="fr-FR" dirty="0">
                <a:solidFill>
                  <a:srgbClr val="FF0000"/>
                </a:solidFill>
              </a:rPr>
              <a:t>ne fail pas !!</a:t>
            </a:r>
          </a:p>
        </p:txBody>
      </p:sp>
    </p:spTree>
    <p:extLst>
      <p:ext uri="{BB962C8B-B14F-4D97-AF65-F5344CB8AC3E}">
        <p14:creationId xmlns:p14="http://schemas.microsoft.com/office/powerpoint/2010/main" val="133776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2" grpId="0"/>
      <p:bldP spid="13" grpId="0"/>
      <p:bldP spid="1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73574F3B-EDE8-56A6-0874-8AEC57928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1412" b="38706"/>
          <a:stretch/>
        </p:blipFill>
        <p:spPr>
          <a:xfrm>
            <a:off x="3789446" y="931774"/>
            <a:ext cx="8349930" cy="4508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9E125F-B2F6-91CA-08F2-1DE264EB399D}"/>
              </a:ext>
            </a:extLst>
          </p:cNvPr>
          <p:cNvSpPr/>
          <p:nvPr/>
        </p:nvSpPr>
        <p:spPr>
          <a:xfrm>
            <a:off x="5476121" y="1528233"/>
            <a:ext cx="594480" cy="298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52E3D3-2C94-AF77-F871-64E6DB405BF2}"/>
              </a:ext>
            </a:extLst>
          </p:cNvPr>
          <p:cNvSpPr/>
          <p:nvPr/>
        </p:nvSpPr>
        <p:spPr>
          <a:xfrm>
            <a:off x="8825441" y="1529666"/>
            <a:ext cx="580498" cy="297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54C127C-A60B-743E-663C-C3494986B798}"/>
              </a:ext>
            </a:extLst>
          </p:cNvPr>
          <p:cNvSpPr txBox="1"/>
          <p:nvPr/>
        </p:nvSpPr>
        <p:spPr>
          <a:xfrm>
            <a:off x="9431079" y="329609"/>
            <a:ext cx="2708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Complémentaires qui </a:t>
            </a:r>
            <a:r>
              <a:rPr lang="fr-FR" dirty="0" err="1">
                <a:solidFill>
                  <a:srgbClr val="FF0000"/>
                </a:solidFill>
              </a:rPr>
              <a:t>failent</a:t>
            </a:r>
            <a:endParaRPr lang="fr-FR" dirty="0">
              <a:solidFill>
                <a:srgbClr val="FF0000"/>
              </a:solidFill>
            </a:endParaRP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3BE6904-81F7-6CFE-C6E6-65C8D1237D7A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5773361" y="652775"/>
            <a:ext cx="3657718" cy="8754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24B98E74-4DF1-F506-7918-6C311C3AA5DB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 flipH="1">
            <a:off x="9115690" y="975940"/>
            <a:ext cx="1669538" cy="5537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6A312B96-83CA-7002-447A-FF1629A7BE22}"/>
              </a:ext>
            </a:extLst>
          </p:cNvPr>
          <p:cNvSpPr txBox="1"/>
          <p:nvPr/>
        </p:nvSpPr>
        <p:spPr>
          <a:xfrm>
            <a:off x="6389846" y="6343725"/>
            <a:ext cx="3176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On fait des calculs en double !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F262D145-465E-8B52-5CFD-FAD876B0EE4D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4206240" y="5336368"/>
            <a:ext cx="3771862" cy="10073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0E918A29-D8EB-FE3B-A848-F0D423F9113B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564429" y="5336368"/>
            <a:ext cx="1413673" cy="10073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A34DE2FA-86C1-AD55-DF90-BD7C8DA1B3C3}"/>
              </a:ext>
            </a:extLst>
          </p:cNvPr>
          <p:cNvSpPr txBox="1"/>
          <p:nvPr/>
        </p:nvSpPr>
        <p:spPr>
          <a:xfrm>
            <a:off x="265814" y="414670"/>
            <a:ext cx="55946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dirty="0"/>
              <a:t>Analyse du processus de calcul :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85C77A-249D-5C2F-F0C5-4663FB92CB83}"/>
              </a:ext>
            </a:extLst>
          </p:cNvPr>
          <p:cNvSpPr/>
          <p:nvPr/>
        </p:nvSpPr>
        <p:spPr>
          <a:xfrm>
            <a:off x="7978102" y="1521632"/>
            <a:ext cx="580498" cy="297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7D82EF51-920D-3A8B-9F00-29FF722E63F1}"/>
              </a:ext>
            </a:extLst>
          </p:cNvPr>
          <p:cNvCxnSpPr>
            <a:cxnSpLocks/>
            <a:stCxn id="7" idx="1"/>
            <a:endCxn id="49" idx="0"/>
          </p:cNvCxnSpPr>
          <p:nvPr/>
        </p:nvCxnSpPr>
        <p:spPr>
          <a:xfrm flipH="1">
            <a:off x="8268351" y="652775"/>
            <a:ext cx="1162728" cy="8688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371A4BC4-1C3C-FE66-3BBF-30A1D8124B6F}"/>
              </a:ext>
            </a:extLst>
          </p:cNvPr>
          <p:cNvCxnSpPr>
            <a:stCxn id="18" idx="0"/>
          </p:cNvCxnSpPr>
          <p:nvPr/>
        </p:nvCxnSpPr>
        <p:spPr>
          <a:xfrm flipH="1" flipV="1">
            <a:off x="5553777" y="5351646"/>
            <a:ext cx="2424325" cy="992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DBB866D3-2F3D-7219-9352-E58D0209E596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7978102" y="5351646"/>
            <a:ext cx="1945544" cy="992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9ED57013-C0A1-6823-EB4F-2EA3A6164031}"/>
              </a:ext>
            </a:extLst>
          </p:cNvPr>
          <p:cNvCxnSpPr>
            <a:stCxn id="18" idx="0"/>
          </p:cNvCxnSpPr>
          <p:nvPr/>
        </p:nvCxnSpPr>
        <p:spPr>
          <a:xfrm flipH="1" flipV="1">
            <a:off x="7892716" y="5336368"/>
            <a:ext cx="85386" cy="1007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F2F6DDDC-85EA-121F-34E1-C52217BAA077}"/>
              </a:ext>
            </a:extLst>
          </p:cNvPr>
          <p:cNvCxnSpPr>
            <a:stCxn id="18" idx="0"/>
          </p:cNvCxnSpPr>
          <p:nvPr/>
        </p:nvCxnSpPr>
        <p:spPr>
          <a:xfrm flipV="1">
            <a:off x="7978102" y="5351646"/>
            <a:ext cx="2657814" cy="992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2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18" grpId="0"/>
      <p:bldP spid="4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1F25F1-7569-EE77-DC16-948BD38E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 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5B4A5CC-CF1E-8B6B-4DB2-0DB729EC824E}"/>
              </a:ext>
            </a:extLst>
          </p:cNvPr>
          <p:cNvSpPr txBox="1"/>
          <p:nvPr/>
        </p:nvSpPr>
        <p:spPr>
          <a:xfrm>
            <a:off x="1557893" y="1905922"/>
            <a:ext cx="6299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dirty="0"/>
              <a:t>∇₁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D6E122-B215-BD09-A943-ECD9EA9B305A}"/>
              </a:ext>
            </a:extLst>
          </p:cNvPr>
          <p:cNvSpPr txBox="1"/>
          <p:nvPr/>
        </p:nvSpPr>
        <p:spPr>
          <a:xfrm>
            <a:off x="4693746" y="147139"/>
            <a:ext cx="48282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500" dirty="0"/>
              <a:t>Δ₁</a:t>
            </a:r>
            <a:endParaRPr lang="fr-FR" sz="25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C45CD08-7975-D68B-F294-DDC8D50E12FD}"/>
              </a:ext>
            </a:extLst>
          </p:cNvPr>
          <p:cNvSpPr txBox="1"/>
          <p:nvPr/>
        </p:nvSpPr>
        <p:spPr>
          <a:xfrm>
            <a:off x="5668900" y="145932"/>
            <a:ext cx="48282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500" dirty="0"/>
              <a:t>Δ₂</a:t>
            </a:r>
            <a:endParaRPr lang="fr-FR" sz="25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22F5AA2-B4FB-0071-0FD0-12D27977E8A4}"/>
              </a:ext>
            </a:extLst>
          </p:cNvPr>
          <p:cNvSpPr txBox="1"/>
          <p:nvPr/>
        </p:nvSpPr>
        <p:spPr>
          <a:xfrm>
            <a:off x="6653561" y="136416"/>
            <a:ext cx="48282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500" dirty="0"/>
              <a:t>Δ₃</a:t>
            </a:r>
            <a:endParaRPr lang="fr-FR" sz="25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3C2209F-4520-DFD9-BB44-F6C250035C81}"/>
              </a:ext>
            </a:extLst>
          </p:cNvPr>
          <p:cNvSpPr txBox="1"/>
          <p:nvPr/>
        </p:nvSpPr>
        <p:spPr>
          <a:xfrm>
            <a:off x="7638222" y="136416"/>
            <a:ext cx="48282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500" dirty="0"/>
              <a:t>Δ₄</a:t>
            </a:r>
            <a:endParaRPr lang="fr-FR" sz="25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6E350C0-1823-9086-50E0-8AD2A7F8731B}"/>
              </a:ext>
            </a:extLst>
          </p:cNvPr>
          <p:cNvSpPr txBox="1"/>
          <p:nvPr/>
        </p:nvSpPr>
        <p:spPr>
          <a:xfrm>
            <a:off x="4433437" y="613470"/>
            <a:ext cx="391134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 ✖  ✖  </a:t>
            </a:r>
            <a:r>
              <a:rPr lang="fr-FR" sz="4000" dirty="0"/>
              <a:t>| </a:t>
            </a:r>
            <a:r>
              <a:rPr lang="fr-FR" sz="2400" dirty="0"/>
              <a:t>✖  ✖  </a:t>
            </a:r>
            <a:r>
              <a:rPr lang="fr-FR" sz="4000" dirty="0"/>
              <a:t>|</a:t>
            </a:r>
            <a:r>
              <a:rPr lang="fr-FR" sz="2400" dirty="0"/>
              <a:t>  ✖  ✖</a:t>
            </a:r>
            <a:r>
              <a:rPr lang="fr-FR" sz="4000" dirty="0"/>
              <a:t> |</a:t>
            </a:r>
            <a:r>
              <a:rPr lang="fr-FR" sz="2400" dirty="0"/>
              <a:t>  ✖  ✖</a:t>
            </a:r>
          </a:p>
          <a:p>
            <a:r>
              <a:rPr lang="fr-FR" sz="2400" dirty="0"/>
              <a:t>        </a:t>
            </a:r>
            <a:r>
              <a:rPr lang="fr-FR" sz="2400" dirty="0">
                <a:solidFill>
                  <a:srgbClr val="FF0000"/>
                </a:solidFill>
              </a:rPr>
              <a:t>•              </a:t>
            </a:r>
            <a:r>
              <a:rPr lang="fr-FR" sz="2400" dirty="0">
                <a:solidFill>
                  <a:schemeClr val="accent4"/>
                </a:solidFill>
              </a:rPr>
              <a:t>•       </a:t>
            </a:r>
            <a:r>
              <a:rPr lang="fr-FR" sz="2400" dirty="0">
                <a:solidFill>
                  <a:srgbClr val="FF0000"/>
                </a:solidFill>
              </a:rPr>
              <a:t>•</a:t>
            </a:r>
            <a:r>
              <a:rPr lang="fr-FR" sz="24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F3F260B-5A0F-CCB9-D13A-2392D6538B58}"/>
              </a:ext>
            </a:extLst>
          </p:cNvPr>
          <p:cNvSpPr txBox="1"/>
          <p:nvPr/>
        </p:nvSpPr>
        <p:spPr>
          <a:xfrm>
            <a:off x="577483" y="2459922"/>
            <a:ext cx="250928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 </a:t>
            </a:r>
            <a:r>
              <a:rPr lang="fr-FR" sz="1600" dirty="0">
                <a:solidFill>
                  <a:srgbClr val="B2B2B2"/>
                </a:solidFill>
              </a:rPr>
              <a:t>✖  ✖  </a:t>
            </a:r>
            <a:r>
              <a:rPr lang="fr-FR" sz="1600" dirty="0"/>
              <a:t>| ✖  ✖  |  ✖  ✖ |  ✖  ✖</a:t>
            </a:r>
          </a:p>
          <a:p>
            <a:r>
              <a:rPr lang="fr-FR" sz="1600" dirty="0"/>
              <a:t>        </a:t>
            </a:r>
            <a:r>
              <a:rPr lang="fr-FR" sz="1600" dirty="0">
                <a:solidFill>
                  <a:srgbClr val="FF0000"/>
                </a:solidFill>
              </a:rPr>
              <a:t>•              </a:t>
            </a:r>
            <a:r>
              <a:rPr lang="fr-FR" sz="1600" dirty="0">
                <a:solidFill>
                  <a:schemeClr val="accent4"/>
                </a:solidFill>
              </a:rPr>
              <a:t>•       </a:t>
            </a:r>
            <a:r>
              <a:rPr lang="fr-FR" sz="1600" dirty="0">
                <a:solidFill>
                  <a:srgbClr val="FF0000"/>
                </a:solidFill>
              </a:rPr>
              <a:t>•</a:t>
            </a:r>
            <a:r>
              <a:rPr lang="fr-FR" sz="16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3B61714-5846-9741-DC6A-20902382D836}"/>
              </a:ext>
            </a:extLst>
          </p:cNvPr>
          <p:cNvSpPr txBox="1"/>
          <p:nvPr/>
        </p:nvSpPr>
        <p:spPr>
          <a:xfrm>
            <a:off x="3480532" y="2459922"/>
            <a:ext cx="250928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 ✖  ✖</a:t>
            </a:r>
            <a:r>
              <a:rPr lang="fr-FR" sz="1600" dirty="0">
                <a:solidFill>
                  <a:srgbClr val="B2B2B2"/>
                </a:solidFill>
              </a:rPr>
              <a:t>  </a:t>
            </a:r>
            <a:r>
              <a:rPr lang="fr-FR" sz="1600" dirty="0"/>
              <a:t>| </a:t>
            </a:r>
            <a:r>
              <a:rPr lang="fr-FR" sz="1600" dirty="0">
                <a:solidFill>
                  <a:srgbClr val="B2B2B2"/>
                </a:solidFill>
              </a:rPr>
              <a:t>✖  ✖  </a:t>
            </a:r>
            <a:r>
              <a:rPr lang="fr-FR" sz="1600" dirty="0"/>
              <a:t>|  ✖  ✖ |  ✖  ✖</a:t>
            </a:r>
          </a:p>
          <a:p>
            <a:r>
              <a:rPr lang="fr-FR" sz="1600" dirty="0"/>
              <a:t>        </a:t>
            </a:r>
            <a:r>
              <a:rPr lang="fr-FR" sz="1600" dirty="0">
                <a:solidFill>
                  <a:srgbClr val="FF0000"/>
                </a:solidFill>
              </a:rPr>
              <a:t>•              </a:t>
            </a:r>
            <a:r>
              <a:rPr lang="fr-FR" sz="1600" dirty="0">
                <a:solidFill>
                  <a:schemeClr val="accent4"/>
                </a:solidFill>
              </a:rPr>
              <a:t>•       </a:t>
            </a:r>
            <a:r>
              <a:rPr lang="fr-FR" sz="1600" dirty="0">
                <a:solidFill>
                  <a:srgbClr val="FF0000"/>
                </a:solidFill>
              </a:rPr>
              <a:t>•</a:t>
            </a:r>
            <a:r>
              <a:rPr lang="fr-FR" sz="16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5FBCFD2-6FD4-7120-66E5-F8A89F3F9C72}"/>
              </a:ext>
            </a:extLst>
          </p:cNvPr>
          <p:cNvSpPr txBox="1"/>
          <p:nvPr/>
        </p:nvSpPr>
        <p:spPr>
          <a:xfrm>
            <a:off x="6383581" y="2459921"/>
            <a:ext cx="250928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 ✖  ✖</a:t>
            </a:r>
            <a:r>
              <a:rPr lang="fr-FR" sz="1600" dirty="0">
                <a:solidFill>
                  <a:srgbClr val="B2B2B2"/>
                </a:solidFill>
              </a:rPr>
              <a:t>  </a:t>
            </a:r>
            <a:r>
              <a:rPr lang="fr-FR" sz="1600" dirty="0"/>
              <a:t>| ✖  ✖  |  </a:t>
            </a:r>
            <a:r>
              <a:rPr lang="fr-FR" sz="1600" dirty="0">
                <a:solidFill>
                  <a:srgbClr val="B2B2B2"/>
                </a:solidFill>
              </a:rPr>
              <a:t>✖  ✖</a:t>
            </a:r>
            <a:r>
              <a:rPr lang="fr-FR" sz="1600" dirty="0"/>
              <a:t> |  ✖  ✖</a:t>
            </a:r>
          </a:p>
          <a:p>
            <a:r>
              <a:rPr lang="fr-FR" sz="1600" dirty="0"/>
              <a:t>        </a:t>
            </a:r>
            <a:r>
              <a:rPr lang="fr-FR" sz="1600" dirty="0">
                <a:solidFill>
                  <a:srgbClr val="FF0000"/>
                </a:solidFill>
              </a:rPr>
              <a:t>•              </a:t>
            </a:r>
            <a:r>
              <a:rPr lang="fr-FR" sz="1600" dirty="0">
                <a:solidFill>
                  <a:schemeClr val="accent4"/>
                </a:solidFill>
              </a:rPr>
              <a:t>•       </a:t>
            </a:r>
            <a:r>
              <a:rPr lang="fr-FR" sz="1600" dirty="0">
                <a:solidFill>
                  <a:srgbClr val="FF0000"/>
                </a:solidFill>
              </a:rPr>
              <a:t>•</a:t>
            </a:r>
            <a:r>
              <a:rPr lang="fr-FR" sz="16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335FA4B-6C1B-49B2-8742-944700F3770A}"/>
              </a:ext>
            </a:extLst>
          </p:cNvPr>
          <p:cNvSpPr txBox="1"/>
          <p:nvPr/>
        </p:nvSpPr>
        <p:spPr>
          <a:xfrm>
            <a:off x="9286630" y="2459920"/>
            <a:ext cx="250928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 ✖  ✖</a:t>
            </a:r>
            <a:r>
              <a:rPr lang="fr-FR" sz="1600" dirty="0">
                <a:solidFill>
                  <a:srgbClr val="B2B2B2"/>
                </a:solidFill>
              </a:rPr>
              <a:t>  </a:t>
            </a:r>
            <a:r>
              <a:rPr lang="fr-FR" sz="1600" dirty="0"/>
              <a:t>| ✖  ✖  |  ✖  ✖ |  </a:t>
            </a:r>
            <a:r>
              <a:rPr lang="fr-FR" sz="1600" dirty="0">
                <a:solidFill>
                  <a:srgbClr val="B2B2B2"/>
                </a:solidFill>
              </a:rPr>
              <a:t>✖  ✖</a:t>
            </a:r>
          </a:p>
          <a:p>
            <a:r>
              <a:rPr lang="fr-FR" sz="1600" dirty="0"/>
              <a:t>        </a:t>
            </a:r>
            <a:r>
              <a:rPr lang="fr-FR" sz="1600" dirty="0">
                <a:solidFill>
                  <a:srgbClr val="FF0000"/>
                </a:solidFill>
              </a:rPr>
              <a:t>•              </a:t>
            </a:r>
            <a:r>
              <a:rPr lang="fr-FR" sz="1600" dirty="0">
                <a:solidFill>
                  <a:schemeClr val="accent4"/>
                </a:solidFill>
              </a:rPr>
              <a:t>•       </a:t>
            </a:r>
            <a:r>
              <a:rPr lang="fr-FR" sz="1600" dirty="0">
                <a:solidFill>
                  <a:srgbClr val="FF0000"/>
                </a:solidFill>
              </a:rPr>
              <a:t>•</a:t>
            </a:r>
            <a:r>
              <a:rPr lang="fr-FR" sz="16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2F613F4-996E-51ED-B59B-9F04F3F4B402}"/>
              </a:ext>
            </a:extLst>
          </p:cNvPr>
          <p:cNvSpPr txBox="1"/>
          <p:nvPr/>
        </p:nvSpPr>
        <p:spPr>
          <a:xfrm>
            <a:off x="4546592" y="1905922"/>
            <a:ext cx="6299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dirty="0"/>
              <a:t>∇</a:t>
            </a:r>
            <a:r>
              <a:rPr lang="fr-FR" sz="3000" baseline="-25000" dirty="0"/>
              <a:t>2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18EDEAA-3BCE-E85C-515C-FD9EF1B2920A}"/>
              </a:ext>
            </a:extLst>
          </p:cNvPr>
          <p:cNvSpPr txBox="1"/>
          <p:nvPr/>
        </p:nvSpPr>
        <p:spPr>
          <a:xfrm>
            <a:off x="7449641" y="1900826"/>
            <a:ext cx="79059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dirty="0"/>
              <a:t>∇</a:t>
            </a:r>
            <a:r>
              <a:rPr lang="fr-FR" sz="3000" baseline="-25000" dirty="0"/>
              <a:t>3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67D977B-46F6-761D-DC65-9677364C1F11}"/>
              </a:ext>
            </a:extLst>
          </p:cNvPr>
          <p:cNvSpPr txBox="1"/>
          <p:nvPr/>
        </p:nvSpPr>
        <p:spPr>
          <a:xfrm>
            <a:off x="10205568" y="1900826"/>
            <a:ext cx="6714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dirty="0"/>
              <a:t>∇</a:t>
            </a:r>
            <a:r>
              <a:rPr lang="fr-FR" sz="3000" baseline="-25000" dirty="0"/>
              <a:t>4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5257195-CAF3-7175-184F-FE02ED25D647}"/>
              </a:ext>
            </a:extLst>
          </p:cNvPr>
          <p:cNvSpPr txBox="1"/>
          <p:nvPr/>
        </p:nvSpPr>
        <p:spPr>
          <a:xfrm>
            <a:off x="2180373" y="4809725"/>
            <a:ext cx="250928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 </a:t>
            </a:r>
            <a:r>
              <a:rPr lang="fr-FR" sz="1600" dirty="0">
                <a:solidFill>
                  <a:srgbClr val="B2B2B2"/>
                </a:solidFill>
              </a:rPr>
              <a:t>✖  ✖  </a:t>
            </a:r>
            <a:r>
              <a:rPr lang="fr-FR" sz="1600" dirty="0"/>
              <a:t>| </a:t>
            </a:r>
            <a:r>
              <a:rPr lang="fr-FR" sz="1600" dirty="0">
                <a:solidFill>
                  <a:srgbClr val="B2B2B2"/>
                </a:solidFill>
              </a:rPr>
              <a:t>✖  ✖  </a:t>
            </a:r>
            <a:r>
              <a:rPr lang="fr-FR" sz="1600" dirty="0"/>
              <a:t>|  ✖  ✖ |  ✖  ✖</a:t>
            </a:r>
          </a:p>
          <a:p>
            <a:r>
              <a:rPr lang="fr-FR" sz="1600" dirty="0"/>
              <a:t>        </a:t>
            </a:r>
            <a:r>
              <a:rPr lang="fr-FR" sz="1600" dirty="0">
                <a:solidFill>
                  <a:srgbClr val="FF0000"/>
                </a:solidFill>
              </a:rPr>
              <a:t>•              </a:t>
            </a:r>
            <a:r>
              <a:rPr lang="fr-FR" sz="1600" dirty="0">
                <a:solidFill>
                  <a:schemeClr val="accent4"/>
                </a:solidFill>
              </a:rPr>
              <a:t>•       </a:t>
            </a:r>
            <a:r>
              <a:rPr lang="fr-FR" sz="1600" dirty="0">
                <a:solidFill>
                  <a:srgbClr val="FF0000"/>
                </a:solidFill>
              </a:rPr>
              <a:t>•</a:t>
            </a:r>
            <a:r>
              <a:rPr lang="fr-FR" sz="16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1AEF122-61F6-57A5-8EFD-AB2C73237BE1}"/>
              </a:ext>
            </a:extLst>
          </p:cNvPr>
          <p:cNvSpPr txBox="1"/>
          <p:nvPr/>
        </p:nvSpPr>
        <p:spPr>
          <a:xfrm>
            <a:off x="5730952" y="4809727"/>
            <a:ext cx="250928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 ✖  ✖</a:t>
            </a:r>
            <a:r>
              <a:rPr lang="fr-FR" sz="1600" dirty="0">
                <a:solidFill>
                  <a:srgbClr val="B2B2B2"/>
                </a:solidFill>
              </a:rPr>
              <a:t>  </a:t>
            </a:r>
            <a:r>
              <a:rPr lang="fr-FR" sz="1600" dirty="0"/>
              <a:t>| </a:t>
            </a:r>
            <a:r>
              <a:rPr lang="fr-FR" sz="1600" dirty="0">
                <a:solidFill>
                  <a:srgbClr val="B2B2B2"/>
                </a:solidFill>
              </a:rPr>
              <a:t>✖  ✖</a:t>
            </a:r>
            <a:r>
              <a:rPr lang="fr-FR" sz="1600" dirty="0"/>
              <a:t>  |  </a:t>
            </a:r>
            <a:r>
              <a:rPr lang="fr-FR" sz="1600" dirty="0">
                <a:solidFill>
                  <a:srgbClr val="B2B2B2"/>
                </a:solidFill>
              </a:rPr>
              <a:t>✖  ✖</a:t>
            </a:r>
            <a:r>
              <a:rPr lang="fr-FR" sz="1600" dirty="0"/>
              <a:t> |  ✖  ✖</a:t>
            </a:r>
          </a:p>
          <a:p>
            <a:r>
              <a:rPr lang="fr-FR" sz="1600" dirty="0"/>
              <a:t>        </a:t>
            </a:r>
            <a:r>
              <a:rPr lang="fr-FR" sz="1600" dirty="0">
                <a:solidFill>
                  <a:srgbClr val="FF0000"/>
                </a:solidFill>
              </a:rPr>
              <a:t>•              </a:t>
            </a:r>
            <a:r>
              <a:rPr lang="fr-FR" sz="1600" dirty="0">
                <a:solidFill>
                  <a:schemeClr val="accent4"/>
                </a:solidFill>
              </a:rPr>
              <a:t>•       </a:t>
            </a:r>
            <a:r>
              <a:rPr lang="fr-FR" sz="1600" dirty="0">
                <a:solidFill>
                  <a:srgbClr val="FF0000"/>
                </a:solidFill>
              </a:rPr>
              <a:t>•</a:t>
            </a:r>
            <a:r>
              <a:rPr lang="fr-FR" sz="16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DE9B9F1-F94D-871B-5EF0-1D37FDC453AC}"/>
              </a:ext>
            </a:extLst>
          </p:cNvPr>
          <p:cNvSpPr txBox="1"/>
          <p:nvPr/>
        </p:nvSpPr>
        <p:spPr>
          <a:xfrm>
            <a:off x="9281531" y="4809726"/>
            <a:ext cx="250928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 ✖  ✖</a:t>
            </a:r>
            <a:r>
              <a:rPr lang="fr-FR" sz="1600" dirty="0">
                <a:solidFill>
                  <a:srgbClr val="B2B2B2"/>
                </a:solidFill>
              </a:rPr>
              <a:t>  </a:t>
            </a:r>
            <a:r>
              <a:rPr lang="fr-FR" sz="1600" dirty="0"/>
              <a:t>| </a:t>
            </a:r>
            <a:r>
              <a:rPr lang="fr-FR" sz="1600" dirty="0">
                <a:solidFill>
                  <a:srgbClr val="B2B2B2"/>
                </a:solidFill>
              </a:rPr>
              <a:t>✖  ✖</a:t>
            </a:r>
            <a:r>
              <a:rPr lang="fr-FR" sz="1600" dirty="0"/>
              <a:t>  |  ✖  ✖ |  </a:t>
            </a:r>
            <a:r>
              <a:rPr lang="fr-FR" sz="1600" dirty="0">
                <a:solidFill>
                  <a:srgbClr val="B2B2B2"/>
                </a:solidFill>
              </a:rPr>
              <a:t>✖  ✖</a:t>
            </a:r>
          </a:p>
          <a:p>
            <a:r>
              <a:rPr lang="fr-FR" sz="1600" dirty="0"/>
              <a:t>        </a:t>
            </a:r>
            <a:r>
              <a:rPr lang="fr-FR" sz="1600" dirty="0">
                <a:solidFill>
                  <a:srgbClr val="FF0000"/>
                </a:solidFill>
              </a:rPr>
              <a:t>•              </a:t>
            </a:r>
            <a:r>
              <a:rPr lang="fr-FR" sz="1600" dirty="0">
                <a:solidFill>
                  <a:schemeClr val="accent4"/>
                </a:solidFill>
              </a:rPr>
              <a:t>•       </a:t>
            </a:r>
            <a:r>
              <a:rPr lang="fr-FR" sz="1600" dirty="0">
                <a:solidFill>
                  <a:srgbClr val="FF0000"/>
                </a:solidFill>
              </a:rPr>
              <a:t>•</a:t>
            </a:r>
            <a:r>
              <a:rPr lang="fr-FR" sz="1600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4F1CD36-3E5A-B356-2603-11CC56446F31}"/>
              </a:ext>
            </a:extLst>
          </p:cNvPr>
          <p:cNvSpPr txBox="1"/>
          <p:nvPr/>
        </p:nvSpPr>
        <p:spPr>
          <a:xfrm>
            <a:off x="2930537" y="4191010"/>
            <a:ext cx="11604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dirty="0"/>
              <a:t>∇</a:t>
            </a:r>
            <a:r>
              <a:rPr lang="fr-FR" sz="3000" baseline="-25000" dirty="0"/>
              <a:t>2</a:t>
            </a:r>
            <a:r>
              <a:rPr lang="fr-FR" sz="2800" dirty="0"/>
              <a:t>∩</a:t>
            </a:r>
            <a:r>
              <a:rPr lang="fr-FR" sz="3000" dirty="0"/>
              <a:t>∇₁</a:t>
            </a:r>
            <a:endParaRPr lang="fr-FR" sz="3000" baseline="-25000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013D06F-A11E-A8B0-C408-50439C116E73}"/>
              </a:ext>
            </a:extLst>
          </p:cNvPr>
          <p:cNvSpPr txBox="1"/>
          <p:nvPr/>
        </p:nvSpPr>
        <p:spPr>
          <a:xfrm>
            <a:off x="6405343" y="4191010"/>
            <a:ext cx="11604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dirty="0"/>
              <a:t>∇</a:t>
            </a:r>
            <a:r>
              <a:rPr lang="fr-FR" sz="3000" baseline="-25000" dirty="0"/>
              <a:t>2</a:t>
            </a:r>
            <a:r>
              <a:rPr lang="fr-FR" sz="2800" dirty="0"/>
              <a:t>∩</a:t>
            </a:r>
            <a:r>
              <a:rPr lang="fr-FR" sz="3000" dirty="0"/>
              <a:t>∇</a:t>
            </a:r>
            <a:r>
              <a:rPr lang="fr-FR" sz="3000" baseline="-25000" dirty="0"/>
              <a:t>3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386FCF2-239D-05C1-9E07-37C70AD284BA}"/>
              </a:ext>
            </a:extLst>
          </p:cNvPr>
          <p:cNvSpPr txBox="1"/>
          <p:nvPr/>
        </p:nvSpPr>
        <p:spPr>
          <a:xfrm>
            <a:off x="9975815" y="4191010"/>
            <a:ext cx="11604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dirty="0"/>
              <a:t>∇</a:t>
            </a:r>
            <a:r>
              <a:rPr lang="fr-FR" sz="3000" baseline="-25000" dirty="0"/>
              <a:t>2</a:t>
            </a:r>
            <a:r>
              <a:rPr lang="fr-FR" sz="2800" dirty="0"/>
              <a:t>∩</a:t>
            </a:r>
            <a:r>
              <a:rPr lang="fr-FR" sz="3000" dirty="0"/>
              <a:t>∇</a:t>
            </a:r>
            <a:r>
              <a:rPr lang="fr-FR" sz="3000" baseline="-25000" dirty="0"/>
              <a:t>4</a:t>
            </a: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3040C7AE-351C-D967-5365-7FFB834730C0}"/>
              </a:ext>
            </a:extLst>
          </p:cNvPr>
          <p:cNvCxnSpPr>
            <a:cxnSpLocks/>
            <a:stCxn id="18" idx="2"/>
            <a:endCxn id="30" idx="0"/>
          </p:cNvCxnSpPr>
          <p:nvPr/>
        </p:nvCxnSpPr>
        <p:spPr>
          <a:xfrm flipH="1">
            <a:off x="3510787" y="3044697"/>
            <a:ext cx="1224386" cy="1146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09081F2B-A909-6C70-212B-4A0954340F60}"/>
              </a:ext>
            </a:extLst>
          </p:cNvPr>
          <p:cNvCxnSpPr>
            <a:stCxn id="18" idx="2"/>
            <a:endCxn id="31" idx="0"/>
          </p:cNvCxnSpPr>
          <p:nvPr/>
        </p:nvCxnSpPr>
        <p:spPr>
          <a:xfrm>
            <a:off x="4735173" y="3044697"/>
            <a:ext cx="2250420" cy="1146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4099C16F-472C-1F0F-8F77-839353CE2FD2}"/>
              </a:ext>
            </a:extLst>
          </p:cNvPr>
          <p:cNvCxnSpPr>
            <a:stCxn id="18" idx="2"/>
            <a:endCxn id="32" idx="0"/>
          </p:cNvCxnSpPr>
          <p:nvPr/>
        </p:nvCxnSpPr>
        <p:spPr>
          <a:xfrm>
            <a:off x="4735173" y="3044697"/>
            <a:ext cx="5820892" cy="1146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A710A5F8-64F5-94D0-AFED-C7A65EBD3FB2}"/>
              </a:ext>
            </a:extLst>
          </p:cNvPr>
          <p:cNvSpPr txBox="1"/>
          <p:nvPr/>
        </p:nvSpPr>
        <p:spPr>
          <a:xfrm>
            <a:off x="2555195" y="5891321"/>
            <a:ext cx="86795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dirty="0">
                <a:solidFill>
                  <a:srgbClr val="FF0000"/>
                </a:solidFill>
              </a:rPr>
              <a:t>Les calculs suivants sont en fait des intersections !!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DF117FB-6EEB-C107-7A49-063D9D0892A8}"/>
              </a:ext>
            </a:extLst>
          </p:cNvPr>
          <p:cNvSpPr txBox="1"/>
          <p:nvPr/>
        </p:nvSpPr>
        <p:spPr>
          <a:xfrm>
            <a:off x="76389" y="3663412"/>
            <a:ext cx="30103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500" dirty="0">
                <a:solidFill>
                  <a:srgbClr val="00B0F0"/>
                </a:solidFill>
              </a:rPr>
              <a:t>La récursion dans ∇</a:t>
            </a:r>
            <a:r>
              <a:rPr lang="fr-FR" sz="2500" baseline="-25000" dirty="0">
                <a:solidFill>
                  <a:srgbClr val="00B0F0"/>
                </a:solidFill>
              </a:rPr>
              <a:t>2</a:t>
            </a:r>
          </a:p>
          <a:p>
            <a:r>
              <a:rPr lang="fr-FR" sz="2500" dirty="0">
                <a:solidFill>
                  <a:srgbClr val="00B0F0"/>
                </a:solidFill>
              </a:rPr>
              <a:t> donne :</a:t>
            </a:r>
          </a:p>
        </p:txBody>
      </p:sp>
    </p:spTree>
    <p:extLst>
      <p:ext uri="{BB962C8B-B14F-4D97-AF65-F5344CB8AC3E}">
        <p14:creationId xmlns:p14="http://schemas.microsoft.com/office/powerpoint/2010/main" val="85633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  <p:bldP spid="18" grpId="0" animBg="1"/>
      <p:bldP spid="19" grpId="0" animBg="1"/>
      <p:bldP spid="20" grpId="0" animBg="1"/>
      <p:bldP spid="23" grpId="0"/>
      <p:bldP spid="24" grpId="0"/>
      <p:bldP spid="25" grpId="0"/>
      <p:bldP spid="26" grpId="0" animBg="1"/>
      <p:bldP spid="27" grpId="0" animBg="1"/>
      <p:bldP spid="28" grpId="0" animBg="1"/>
      <p:bldP spid="30" grpId="0"/>
      <p:bldP spid="31" grpId="0"/>
      <p:bldP spid="32" grpId="0"/>
      <p:bldP spid="40" grpId="0"/>
      <p:bldP spid="4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2F890-0E61-3E67-2718-2F8D30FF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A1EEC404-7042-B4B5-1C6E-8A8306DF5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1412" b="38706"/>
          <a:stretch/>
        </p:blipFill>
        <p:spPr>
          <a:xfrm>
            <a:off x="3789446" y="931774"/>
            <a:ext cx="8349930" cy="4508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9374D5-178A-9721-75FB-32ED349898D2}"/>
              </a:ext>
            </a:extLst>
          </p:cNvPr>
          <p:cNvSpPr/>
          <p:nvPr/>
        </p:nvSpPr>
        <p:spPr>
          <a:xfrm>
            <a:off x="5476121" y="1528233"/>
            <a:ext cx="594480" cy="298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2F35E-2345-3043-E30B-524224D531F5}"/>
              </a:ext>
            </a:extLst>
          </p:cNvPr>
          <p:cNvSpPr/>
          <p:nvPr/>
        </p:nvSpPr>
        <p:spPr>
          <a:xfrm>
            <a:off x="8825441" y="1529666"/>
            <a:ext cx="580498" cy="297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CD7062F-0A84-8A5F-B5A2-D4F776FC7407}"/>
              </a:ext>
            </a:extLst>
          </p:cNvPr>
          <p:cNvSpPr txBox="1"/>
          <p:nvPr/>
        </p:nvSpPr>
        <p:spPr>
          <a:xfrm>
            <a:off x="9431079" y="329609"/>
            <a:ext cx="2708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Complémentaires qui </a:t>
            </a:r>
            <a:r>
              <a:rPr lang="fr-FR" dirty="0" err="1">
                <a:solidFill>
                  <a:srgbClr val="FF0000"/>
                </a:solidFill>
              </a:rPr>
              <a:t>failent</a:t>
            </a:r>
            <a:endParaRPr lang="fr-FR" dirty="0">
              <a:solidFill>
                <a:srgbClr val="FF0000"/>
              </a:solidFill>
            </a:endParaRP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2496B15-F9D4-7672-96BB-ACC9F0DE4266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flipH="1">
            <a:off x="5773361" y="652775"/>
            <a:ext cx="3657718" cy="8754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1B61688E-8781-52C7-AE9E-6659B630204B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 flipH="1">
            <a:off x="9115690" y="975940"/>
            <a:ext cx="1669538" cy="5537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C474C267-5EA9-E2AE-BB38-EA2D0A869A38}"/>
              </a:ext>
            </a:extLst>
          </p:cNvPr>
          <p:cNvSpPr txBox="1"/>
          <p:nvPr/>
        </p:nvSpPr>
        <p:spPr>
          <a:xfrm>
            <a:off x="6389846" y="6343725"/>
            <a:ext cx="3176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On fait des calculs en double !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304907B-E2A3-EFEE-349E-BD930E193188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4206240" y="5336368"/>
            <a:ext cx="3771862" cy="10073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F7669B08-D5A0-5906-F1B2-167A7125E44A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564429" y="5336368"/>
            <a:ext cx="1413673" cy="10073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8A129E71-2A91-884C-1B43-795F619FE783}"/>
              </a:ext>
            </a:extLst>
          </p:cNvPr>
          <p:cNvSpPr txBox="1"/>
          <p:nvPr/>
        </p:nvSpPr>
        <p:spPr>
          <a:xfrm>
            <a:off x="265814" y="414670"/>
            <a:ext cx="55946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dirty="0"/>
              <a:t>Analyse du processus de calcul :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105C00F-FA2C-E011-2530-836BB8C6569D}"/>
              </a:ext>
            </a:extLst>
          </p:cNvPr>
          <p:cNvSpPr/>
          <p:nvPr/>
        </p:nvSpPr>
        <p:spPr>
          <a:xfrm>
            <a:off x="7978102" y="1521632"/>
            <a:ext cx="580498" cy="297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EF0E3D7D-38F5-627F-AEC2-C14CF55ACC07}"/>
              </a:ext>
            </a:extLst>
          </p:cNvPr>
          <p:cNvCxnSpPr>
            <a:cxnSpLocks/>
            <a:stCxn id="7" idx="1"/>
            <a:endCxn id="49" idx="0"/>
          </p:cNvCxnSpPr>
          <p:nvPr/>
        </p:nvCxnSpPr>
        <p:spPr>
          <a:xfrm flipH="1">
            <a:off x="8268351" y="652775"/>
            <a:ext cx="1162728" cy="8688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DF591756-C3D8-B82C-FE7B-EEF7AE4FCA8F}"/>
              </a:ext>
            </a:extLst>
          </p:cNvPr>
          <p:cNvCxnSpPr>
            <a:stCxn id="18" idx="0"/>
          </p:cNvCxnSpPr>
          <p:nvPr/>
        </p:nvCxnSpPr>
        <p:spPr>
          <a:xfrm flipH="1" flipV="1">
            <a:off x="5553777" y="5351646"/>
            <a:ext cx="2424325" cy="992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7D249C9B-845B-31B4-AD70-A617A59328B9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7978102" y="5351646"/>
            <a:ext cx="1945544" cy="992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087EC989-7F4F-0E2C-B57E-9DB98E28AF35}"/>
              </a:ext>
            </a:extLst>
          </p:cNvPr>
          <p:cNvCxnSpPr>
            <a:stCxn id="18" idx="0"/>
          </p:cNvCxnSpPr>
          <p:nvPr/>
        </p:nvCxnSpPr>
        <p:spPr>
          <a:xfrm flipH="1" flipV="1">
            <a:off x="7892716" y="5336368"/>
            <a:ext cx="85386" cy="1007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88E51C22-6166-7C11-3125-46424C1C9DFF}"/>
              </a:ext>
            </a:extLst>
          </p:cNvPr>
          <p:cNvCxnSpPr>
            <a:stCxn id="18" idx="0"/>
          </p:cNvCxnSpPr>
          <p:nvPr/>
        </p:nvCxnSpPr>
        <p:spPr>
          <a:xfrm flipV="1">
            <a:off x="7978102" y="5351646"/>
            <a:ext cx="2657814" cy="992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8CB50AD4-D1FE-CD2B-053E-742CC3BBF0B9}"/>
              </a:ext>
            </a:extLst>
          </p:cNvPr>
          <p:cNvSpPr txBox="1"/>
          <p:nvPr/>
        </p:nvSpPr>
        <p:spPr>
          <a:xfrm>
            <a:off x="265814" y="4878453"/>
            <a:ext cx="3175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On teste les intersections de </a:t>
            </a:r>
          </a:p>
          <a:p>
            <a:r>
              <a:rPr lang="fr-FR" dirty="0">
                <a:solidFill>
                  <a:srgbClr val="00B0F0"/>
                </a:solidFill>
              </a:rPr>
              <a:t>complémentaires deux à deux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414972-14F5-0110-4E47-7696248183E2}"/>
              </a:ext>
            </a:extLst>
          </p:cNvPr>
          <p:cNvSpPr/>
          <p:nvPr/>
        </p:nvSpPr>
        <p:spPr>
          <a:xfrm>
            <a:off x="3946358" y="4990202"/>
            <a:ext cx="7979828" cy="43375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179D61A-75CD-35C3-1A45-37E45FDC5679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3440850" y="5201619"/>
            <a:ext cx="505508" cy="546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6371A1C0-03E7-BE4A-579D-E82683A4B209}"/>
              </a:ext>
            </a:extLst>
          </p:cNvPr>
          <p:cNvSpPr txBox="1"/>
          <p:nvPr/>
        </p:nvSpPr>
        <p:spPr>
          <a:xfrm>
            <a:off x="1227219" y="6335837"/>
            <a:ext cx="2979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7030A0"/>
                </a:solidFill>
              </a:rPr>
              <a:t>On connait déjà le résultat !!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CC7F071F-9457-03C2-FA78-F8BB78BC6C5A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716730" y="5351646"/>
            <a:ext cx="2169656" cy="98419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0074DAD6-9E58-869F-D412-C1C5B1D50316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716730" y="5351646"/>
            <a:ext cx="4549102" cy="98419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3F0F55E5-4324-06C9-64D6-8C9928E96120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716730" y="5351646"/>
            <a:ext cx="8899537" cy="98419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27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0853E8-68E4-140E-61E7-B200E8F0C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général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D62384-946D-991F-7088-218B432D4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teste tous les complémentaires de </a:t>
            </a:r>
            <a:r>
              <a:rPr lang="fr-FR" sz="2800" dirty="0"/>
              <a:t>∇₁ à ∇</a:t>
            </a:r>
            <a:r>
              <a:rPr lang="fr-FR" sz="2800" b="1" baseline="-25000" dirty="0"/>
              <a:t>n</a:t>
            </a:r>
            <a:endParaRPr lang="fr-FR" b="1" baseline="-25000" dirty="0"/>
          </a:p>
          <a:p>
            <a:r>
              <a:rPr lang="fr-FR" dirty="0"/>
              <a:t>On teste les intersections deux à deux des </a:t>
            </a:r>
            <a:r>
              <a:rPr lang="fr-FR" sz="2800" dirty="0"/>
              <a:t>∇</a:t>
            </a:r>
            <a:r>
              <a:rPr lang="fr-FR" sz="2800" baseline="-25000" dirty="0"/>
              <a:t>i</a:t>
            </a:r>
            <a:r>
              <a:rPr lang="fr-FR" sz="2800" dirty="0"/>
              <a:t> qui </a:t>
            </a:r>
            <a:r>
              <a:rPr lang="fr-FR" sz="2800" dirty="0" err="1"/>
              <a:t>failent</a:t>
            </a:r>
            <a:endParaRPr lang="fr-FR" sz="2800" dirty="0"/>
          </a:p>
          <a:p>
            <a:r>
              <a:rPr lang="fr-FR" sz="2800" dirty="0"/>
              <a:t>On obtient ainsi la matrice n*n des tests d’intersection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6635010-ABB5-F2F7-2942-4038BA63DFA9}"/>
              </a:ext>
            </a:extLst>
          </p:cNvPr>
          <p:cNvSpPr txBox="1"/>
          <p:nvPr/>
        </p:nvSpPr>
        <p:spPr>
          <a:xfrm>
            <a:off x="1265920" y="4114860"/>
            <a:ext cx="2233176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3200" dirty="0"/>
              <a:t> ✖  ✓  ✓  ✖</a:t>
            </a:r>
          </a:p>
          <a:p>
            <a:r>
              <a:rPr lang="fr-FR" sz="3200" dirty="0"/>
              <a:t> ✓  ✖  ✓  ✖</a:t>
            </a:r>
            <a:endParaRPr lang="fr-FR" sz="3200" dirty="0">
              <a:solidFill>
                <a:schemeClr val="accent4"/>
              </a:solidFill>
            </a:endParaRPr>
          </a:p>
          <a:p>
            <a:r>
              <a:rPr lang="fr-FR" sz="3200" dirty="0">
                <a:solidFill>
                  <a:schemeClr val="accent4"/>
                </a:solidFill>
              </a:rPr>
              <a:t> </a:t>
            </a:r>
            <a:r>
              <a:rPr lang="fr-FR" sz="3200" dirty="0"/>
              <a:t>✓   ✓  ✓  ✓</a:t>
            </a:r>
            <a:endParaRPr lang="fr-FR" sz="3200" dirty="0">
              <a:solidFill>
                <a:schemeClr val="accent4"/>
              </a:solidFill>
            </a:endParaRPr>
          </a:p>
          <a:p>
            <a:r>
              <a:rPr lang="fr-FR" sz="3200" dirty="0"/>
              <a:t> ✖  ✖  ✓  ✖</a:t>
            </a:r>
            <a:endParaRPr lang="fr-FR" sz="3200" dirty="0">
              <a:solidFill>
                <a:schemeClr val="accent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3B0EED3-4187-2E8A-DB01-7436E611FD5D}"/>
              </a:ext>
            </a:extLst>
          </p:cNvPr>
          <p:cNvSpPr txBox="1"/>
          <p:nvPr/>
        </p:nvSpPr>
        <p:spPr>
          <a:xfrm>
            <a:off x="1265920" y="3530083"/>
            <a:ext cx="2233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 ∇₁ ∇₂  ∇₃ ∇₄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E944E81-89F2-A0C8-8DE8-14A535EEBFE0}"/>
              </a:ext>
            </a:extLst>
          </p:cNvPr>
          <p:cNvSpPr txBox="1"/>
          <p:nvPr/>
        </p:nvSpPr>
        <p:spPr>
          <a:xfrm>
            <a:off x="641804" y="4114859"/>
            <a:ext cx="62411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∇₁</a:t>
            </a:r>
          </a:p>
          <a:p>
            <a:r>
              <a:rPr lang="fr-FR" sz="3200" dirty="0"/>
              <a:t>∇₂ </a:t>
            </a:r>
          </a:p>
          <a:p>
            <a:r>
              <a:rPr lang="fr-FR" sz="3200" dirty="0"/>
              <a:t>∇₃</a:t>
            </a:r>
          </a:p>
          <a:p>
            <a:r>
              <a:rPr lang="fr-FR" sz="3200" dirty="0"/>
              <a:t>∇₄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BCC43B5-055B-6494-3B6E-37135D11866A}"/>
              </a:ext>
            </a:extLst>
          </p:cNvPr>
          <p:cNvSpPr txBox="1"/>
          <p:nvPr/>
        </p:nvSpPr>
        <p:spPr>
          <a:xfrm>
            <a:off x="7057119" y="4207992"/>
            <a:ext cx="1714347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3200" dirty="0"/>
              <a:t> ✖  ✓   ✖</a:t>
            </a:r>
          </a:p>
          <a:p>
            <a:r>
              <a:rPr lang="fr-FR" sz="3200" dirty="0"/>
              <a:t> ✓  ✖   ✖</a:t>
            </a:r>
            <a:endParaRPr lang="fr-FR" sz="3200" dirty="0">
              <a:solidFill>
                <a:schemeClr val="accent4"/>
              </a:solidFill>
            </a:endParaRPr>
          </a:p>
          <a:p>
            <a:r>
              <a:rPr lang="fr-FR" sz="3200" dirty="0"/>
              <a:t>✖   ✖   ✖</a:t>
            </a:r>
            <a:endParaRPr lang="fr-FR" sz="3200" dirty="0">
              <a:solidFill>
                <a:schemeClr val="accent4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715BE36-EC49-97BA-3ACC-2B89D490A468}"/>
              </a:ext>
            </a:extLst>
          </p:cNvPr>
          <p:cNvSpPr txBox="1"/>
          <p:nvPr/>
        </p:nvSpPr>
        <p:spPr>
          <a:xfrm>
            <a:off x="7057119" y="3623217"/>
            <a:ext cx="17143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 ∇₁ ∇₂  ∇₄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93501F6-D90A-A62C-F6B7-4C53476D85C7}"/>
              </a:ext>
            </a:extLst>
          </p:cNvPr>
          <p:cNvSpPr txBox="1"/>
          <p:nvPr/>
        </p:nvSpPr>
        <p:spPr>
          <a:xfrm>
            <a:off x="6433003" y="4207993"/>
            <a:ext cx="6241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∇₁</a:t>
            </a:r>
          </a:p>
          <a:p>
            <a:r>
              <a:rPr lang="fr-FR" sz="3200" dirty="0"/>
              <a:t>∇₂ </a:t>
            </a:r>
          </a:p>
          <a:p>
            <a:r>
              <a:rPr lang="fr-FR" sz="3200" dirty="0"/>
              <a:t>∇₄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3ACA7E7C-CEF2-6DB7-97AF-2A3FBD312DB1}"/>
              </a:ext>
            </a:extLst>
          </p:cNvPr>
          <p:cNvCxnSpPr/>
          <p:nvPr/>
        </p:nvCxnSpPr>
        <p:spPr>
          <a:xfrm>
            <a:off x="3877733" y="5130800"/>
            <a:ext cx="22182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788998FC-14BB-C678-A0ED-C48EEF621AA8}"/>
              </a:ext>
            </a:extLst>
          </p:cNvPr>
          <p:cNvSpPr txBox="1"/>
          <p:nvPr/>
        </p:nvSpPr>
        <p:spPr>
          <a:xfrm>
            <a:off x="4085786" y="4623490"/>
            <a:ext cx="180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Matrice réduite :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FD00292-4699-DB13-B097-4FA3FC592D61}"/>
              </a:ext>
            </a:extLst>
          </p:cNvPr>
          <p:cNvSpPr txBox="1"/>
          <p:nvPr/>
        </p:nvSpPr>
        <p:spPr>
          <a:xfrm>
            <a:off x="6129577" y="5853798"/>
            <a:ext cx="3678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On a retiré les lignes et colonnes </a:t>
            </a:r>
          </a:p>
          <a:p>
            <a:pPr algn="ctr"/>
            <a:r>
              <a:rPr lang="fr-FR" dirty="0">
                <a:solidFill>
                  <a:srgbClr val="FF0000"/>
                </a:solidFill>
              </a:rPr>
              <a:t>des complémentaires qui passent !</a:t>
            </a:r>
          </a:p>
        </p:txBody>
      </p:sp>
    </p:spTree>
    <p:extLst>
      <p:ext uri="{BB962C8B-B14F-4D97-AF65-F5344CB8AC3E}">
        <p14:creationId xmlns:p14="http://schemas.microsoft.com/office/powerpoint/2010/main" val="426090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/>
      <p:bldP spid="7" grpId="0"/>
      <p:bldP spid="8" grpId="0" animBg="1"/>
      <p:bldP spid="9" grpId="0"/>
      <p:bldP spid="10" grpId="0"/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7D1A11-A376-CD10-756E-EB38C830F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général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EEB66D-156B-4667-CD35-D0D32F69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86068" cy="4351338"/>
          </a:xfrm>
        </p:spPr>
        <p:txBody>
          <a:bodyPr>
            <a:normAutofit fontScale="92500"/>
          </a:bodyPr>
          <a:lstStyle/>
          <a:p>
            <a:r>
              <a:rPr lang="fr-FR" dirty="0"/>
              <a:t>On suppose un nombre maximal de deux </a:t>
            </a:r>
            <a:r>
              <a:rPr lang="fr-FR" dirty="0" err="1"/>
              <a:t>failing</a:t>
            </a:r>
            <a:r>
              <a:rPr lang="fr-FR" dirty="0"/>
              <a:t> set :</a:t>
            </a:r>
          </a:p>
          <a:p>
            <a:pPr lvl="1"/>
            <a:r>
              <a:rPr lang="fr-FR" dirty="0"/>
              <a:t>Si il n’y a qu’un </a:t>
            </a:r>
            <a:r>
              <a:rPr lang="fr-FR" dirty="0" err="1"/>
              <a:t>failing</a:t>
            </a:r>
            <a:r>
              <a:rPr lang="fr-FR" dirty="0"/>
              <a:t> set : 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On a pour tout </a:t>
            </a:r>
            <a:r>
              <a:rPr lang="fr-FR" sz="2400" dirty="0"/>
              <a:t>∇</a:t>
            </a:r>
            <a:r>
              <a:rPr lang="fr-FR" sz="2400" baseline="-25000" dirty="0"/>
              <a:t>i</a:t>
            </a:r>
            <a:r>
              <a:rPr lang="fr-FR" sz="2400" dirty="0"/>
              <a:t> , ∇</a:t>
            </a:r>
            <a:r>
              <a:rPr lang="fr-FR" sz="2400" baseline="-25000" dirty="0"/>
              <a:t>j</a:t>
            </a:r>
            <a:r>
              <a:rPr lang="fr-FR" sz="2400" dirty="0"/>
              <a:t> : </a:t>
            </a:r>
            <a:r>
              <a:rPr lang="fr-FR" sz="2400" b="1" dirty="0"/>
              <a:t>test</a:t>
            </a:r>
            <a:r>
              <a:rPr lang="fr-FR" sz="2400" dirty="0"/>
              <a:t>(∇</a:t>
            </a:r>
            <a:r>
              <a:rPr lang="fr-FR" sz="2400" baseline="-25000" dirty="0"/>
              <a:t>i</a:t>
            </a:r>
            <a:r>
              <a:rPr lang="fr-FR" sz="2400" dirty="0"/>
              <a:t>) = </a:t>
            </a:r>
            <a:r>
              <a:rPr lang="fr-FR" sz="2400" b="1" dirty="0"/>
              <a:t>test</a:t>
            </a:r>
            <a:r>
              <a:rPr lang="fr-FR" sz="2400" dirty="0"/>
              <a:t>(∇</a:t>
            </a:r>
            <a:r>
              <a:rPr lang="fr-FR" baseline="-25000" dirty="0"/>
              <a:t>j</a:t>
            </a:r>
            <a:r>
              <a:rPr lang="fr-FR" sz="2400" dirty="0"/>
              <a:t>) = ✖ </a:t>
            </a:r>
            <a:r>
              <a:rPr lang="fr-FR" dirty="0"/>
              <a:t>⇒</a:t>
            </a:r>
            <a:r>
              <a:rPr lang="fr-FR" sz="2400" dirty="0"/>
              <a:t> </a:t>
            </a:r>
            <a:r>
              <a:rPr lang="fr-FR" sz="2400" b="1" dirty="0"/>
              <a:t>test</a:t>
            </a:r>
            <a:r>
              <a:rPr lang="fr-FR" sz="2400" dirty="0"/>
              <a:t>(∇</a:t>
            </a:r>
            <a:r>
              <a:rPr lang="fr-FR" sz="2400" baseline="-25000" dirty="0"/>
              <a:t>i</a:t>
            </a:r>
            <a:r>
              <a:rPr lang="fr-FR" sz="2400" dirty="0"/>
              <a:t> </a:t>
            </a:r>
            <a:r>
              <a:rPr lang="fr-FR" dirty="0"/>
              <a:t>∩</a:t>
            </a:r>
            <a:r>
              <a:rPr lang="fr-FR" sz="2400" dirty="0"/>
              <a:t> ∇</a:t>
            </a:r>
            <a:r>
              <a:rPr lang="fr-FR" sz="2400" baseline="-25000" dirty="0"/>
              <a:t>j</a:t>
            </a:r>
            <a:r>
              <a:rPr lang="fr-FR" sz="2400" dirty="0"/>
              <a:t>) = ✖</a:t>
            </a:r>
          </a:p>
          <a:p>
            <a:pPr marL="457200" lvl="1" indent="0">
              <a:buNone/>
            </a:pPr>
            <a:r>
              <a:rPr lang="fr-FR" dirty="0"/>
              <a:t>En effets si </a:t>
            </a:r>
            <a:r>
              <a:rPr lang="fr-FR" sz="2400" b="1" dirty="0"/>
              <a:t>test</a:t>
            </a:r>
            <a:r>
              <a:rPr lang="fr-FR" sz="2400" dirty="0"/>
              <a:t>(∇</a:t>
            </a:r>
            <a:r>
              <a:rPr lang="fr-FR" sz="2400" baseline="-25000" dirty="0"/>
              <a:t>i</a:t>
            </a:r>
            <a:r>
              <a:rPr lang="fr-FR" sz="2400" dirty="0"/>
              <a:t>) = </a:t>
            </a:r>
            <a:r>
              <a:rPr lang="fr-FR" sz="2400" b="1" dirty="0"/>
              <a:t>test</a:t>
            </a:r>
            <a:r>
              <a:rPr lang="fr-FR" sz="2400" dirty="0"/>
              <a:t>(∇</a:t>
            </a:r>
            <a:r>
              <a:rPr lang="fr-FR" baseline="-25000" dirty="0"/>
              <a:t>j</a:t>
            </a:r>
            <a:r>
              <a:rPr lang="fr-FR" sz="2400" dirty="0"/>
              <a:t>) = ✖  alors ils contiennent un </a:t>
            </a:r>
            <a:r>
              <a:rPr lang="fr-FR" sz="2400" dirty="0" err="1"/>
              <a:t>failing</a:t>
            </a:r>
            <a:r>
              <a:rPr lang="fr-FR" sz="2400" dirty="0"/>
              <a:t> set donc </a:t>
            </a:r>
            <a:r>
              <a:rPr lang="fr-FR" dirty="0">
                <a:solidFill>
                  <a:srgbClr val="FF0000"/>
                </a:solidFill>
              </a:rPr>
              <a:t>•</a:t>
            </a:r>
            <a:r>
              <a:rPr lang="fr-FR" sz="2400" dirty="0"/>
              <a:t> </a:t>
            </a:r>
            <a:r>
              <a:rPr lang="fr-FR" dirty="0"/>
              <a:t>⊆ </a:t>
            </a:r>
            <a:r>
              <a:rPr lang="fr-FR" sz="2400" dirty="0"/>
              <a:t>∇</a:t>
            </a:r>
            <a:r>
              <a:rPr lang="fr-FR" sz="2400" baseline="-25000" dirty="0"/>
              <a:t>i</a:t>
            </a:r>
            <a:r>
              <a:rPr lang="fr-FR" sz="2400" dirty="0"/>
              <a:t> , ∇</a:t>
            </a:r>
            <a:r>
              <a:rPr lang="fr-FR" sz="2400" baseline="-25000" dirty="0"/>
              <a:t>j</a:t>
            </a:r>
          </a:p>
          <a:p>
            <a:pPr marL="457200" lvl="1" indent="0">
              <a:buNone/>
            </a:pPr>
            <a:r>
              <a:rPr lang="fr-FR" sz="2400" dirty="0"/>
              <a:t>D’où </a:t>
            </a:r>
            <a:r>
              <a:rPr lang="fr-FR" dirty="0">
                <a:solidFill>
                  <a:srgbClr val="FF0000"/>
                </a:solidFill>
              </a:rPr>
              <a:t>•</a:t>
            </a:r>
            <a:r>
              <a:rPr lang="fr-FR" sz="2400" dirty="0"/>
              <a:t> </a:t>
            </a:r>
            <a:r>
              <a:rPr lang="fr-FR" dirty="0"/>
              <a:t>⊆ </a:t>
            </a:r>
            <a:r>
              <a:rPr lang="fr-FR" sz="2400" dirty="0"/>
              <a:t>∇</a:t>
            </a:r>
            <a:r>
              <a:rPr lang="fr-FR" sz="2400" baseline="-25000" dirty="0"/>
              <a:t>i</a:t>
            </a:r>
            <a:r>
              <a:rPr lang="fr-FR" sz="2400" dirty="0"/>
              <a:t> , ∇</a:t>
            </a:r>
            <a:r>
              <a:rPr lang="fr-FR" sz="2400" baseline="-25000" dirty="0"/>
              <a:t>j</a:t>
            </a:r>
            <a:r>
              <a:rPr lang="fr-FR" sz="2400" dirty="0"/>
              <a:t> et ainsi </a:t>
            </a:r>
            <a:r>
              <a:rPr lang="fr-FR" sz="2400" b="1" dirty="0"/>
              <a:t>test</a:t>
            </a:r>
            <a:r>
              <a:rPr lang="fr-FR" sz="2400" dirty="0"/>
              <a:t>(∇</a:t>
            </a:r>
            <a:r>
              <a:rPr lang="fr-FR" sz="2400" baseline="-25000" dirty="0"/>
              <a:t>i</a:t>
            </a:r>
            <a:r>
              <a:rPr lang="fr-FR" sz="2400" dirty="0"/>
              <a:t> </a:t>
            </a:r>
            <a:r>
              <a:rPr lang="fr-FR" dirty="0"/>
              <a:t>∩</a:t>
            </a:r>
            <a:r>
              <a:rPr lang="fr-FR" sz="2400" dirty="0"/>
              <a:t> ∇</a:t>
            </a:r>
            <a:r>
              <a:rPr lang="fr-FR" sz="2400" baseline="-25000" dirty="0"/>
              <a:t>j</a:t>
            </a:r>
            <a:r>
              <a:rPr lang="fr-FR" sz="2400" dirty="0"/>
              <a:t>) = ✖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r>
              <a:rPr lang="fr-FR" dirty="0"/>
              <a:t>On a donc </a:t>
            </a:r>
            <a:r>
              <a:rPr lang="fr-FR" b="1" dirty="0"/>
              <a:t>test</a:t>
            </a:r>
            <a:r>
              <a:rPr lang="fr-FR" dirty="0"/>
              <a:t>(</a:t>
            </a:r>
            <a:r>
              <a:rPr lang="fr-FR" sz="4300" dirty="0"/>
              <a:t>∩</a:t>
            </a:r>
            <a:r>
              <a:rPr lang="fr-FR" dirty="0"/>
              <a:t>∇</a:t>
            </a:r>
            <a:r>
              <a:rPr lang="fr-FR" baseline="-25000" dirty="0"/>
              <a:t>i</a:t>
            </a:r>
            <a:r>
              <a:rPr lang="fr-FR" dirty="0"/>
              <a:t>) = </a:t>
            </a:r>
            <a:r>
              <a:rPr lang="fr-FR" sz="2400" dirty="0"/>
              <a:t>✖</a:t>
            </a:r>
            <a:r>
              <a:rPr lang="fr-FR" dirty="0"/>
              <a:t> pour i tel que </a:t>
            </a:r>
            <a:r>
              <a:rPr lang="fr-FR" b="1" dirty="0"/>
              <a:t>test</a:t>
            </a:r>
            <a:r>
              <a:rPr lang="fr-FR" dirty="0"/>
              <a:t>(∇</a:t>
            </a:r>
            <a:r>
              <a:rPr lang="fr-FR" baseline="-25000" dirty="0"/>
              <a:t>i</a:t>
            </a:r>
            <a:r>
              <a:rPr lang="fr-FR" sz="2400" dirty="0"/>
              <a:t>) = ✖, qui contient </a:t>
            </a:r>
            <a:r>
              <a:rPr lang="fr-FR" dirty="0">
                <a:solidFill>
                  <a:srgbClr val="FF0000"/>
                </a:solidFill>
              </a:rPr>
              <a:t>•</a:t>
            </a:r>
            <a:endParaRPr lang="fr-FR" dirty="0"/>
          </a:p>
          <a:p>
            <a:pPr marL="457200" lvl="1" indent="0">
              <a:buNone/>
            </a:pPr>
            <a:endParaRPr lang="fr-FR" sz="2400" dirty="0"/>
          </a:p>
          <a:p>
            <a:pPr lvl="1"/>
            <a:r>
              <a:rPr lang="fr-FR" dirty="0">
                <a:solidFill>
                  <a:srgbClr val="FF0000"/>
                </a:solidFill>
              </a:rPr>
              <a:t>Ceci se traduit par la nullité de la matrice réduite !</a:t>
            </a:r>
            <a:endParaRPr lang="fr-FR" baseline="-25000" dirty="0">
              <a:solidFill>
                <a:srgbClr val="FF000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C37B689-07FC-2FA4-A375-8DC73307E58F}"/>
              </a:ext>
            </a:extLst>
          </p:cNvPr>
          <p:cNvSpPr txBox="1"/>
          <p:nvPr/>
        </p:nvSpPr>
        <p:spPr>
          <a:xfrm>
            <a:off x="5300259" y="2487248"/>
            <a:ext cx="277694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 ✖  ✖  | ✖  ✖  |  ✖  ✖ |  ✖  ✖</a:t>
            </a:r>
          </a:p>
          <a:p>
            <a:r>
              <a:rPr lang="fr-FR" dirty="0"/>
              <a:t>        </a:t>
            </a:r>
            <a:r>
              <a:rPr lang="fr-FR" dirty="0">
                <a:solidFill>
                  <a:srgbClr val="FF0000"/>
                </a:solidFill>
              </a:rPr>
              <a:t>•             •</a:t>
            </a:r>
            <a:endParaRPr lang="fr-FR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04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D5F1-D6E2-9915-FBE6-269E373C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7938A6-AE93-89D8-C8A7-FB473F57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général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0AFC6A-535C-4149-E0E9-C811D19FB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11353801" cy="5032375"/>
          </a:xfrm>
        </p:spPr>
        <p:txBody>
          <a:bodyPr>
            <a:normAutofit/>
          </a:bodyPr>
          <a:lstStyle/>
          <a:p>
            <a:r>
              <a:rPr lang="fr-FR" dirty="0"/>
              <a:t>On suppose un nombre maximal de deux </a:t>
            </a:r>
            <a:r>
              <a:rPr lang="fr-FR" dirty="0" err="1"/>
              <a:t>failing</a:t>
            </a:r>
            <a:r>
              <a:rPr lang="fr-FR" dirty="0"/>
              <a:t> set :</a:t>
            </a:r>
          </a:p>
          <a:p>
            <a:pPr lvl="1"/>
            <a:r>
              <a:rPr lang="fr-FR" dirty="0"/>
              <a:t>Si il y a deux </a:t>
            </a:r>
            <a:r>
              <a:rPr lang="fr-FR" dirty="0" err="1"/>
              <a:t>failing</a:t>
            </a:r>
            <a:r>
              <a:rPr lang="fr-FR" dirty="0"/>
              <a:t> sets : 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r>
              <a:rPr lang="fr-FR" dirty="0"/>
              <a:t>On fait l’hypothèse que les ensembles ne se sont pas inclus les uns dans les autres:</a:t>
            </a:r>
          </a:p>
          <a:p>
            <a:pPr lvl="1"/>
            <a:r>
              <a:rPr lang="fr-FR" sz="2400" dirty="0"/>
              <a:t>Il existe alors ∇</a:t>
            </a:r>
            <a:r>
              <a:rPr lang="fr-FR" sz="2400" baseline="-25000" dirty="0"/>
              <a:t>i</a:t>
            </a:r>
            <a:r>
              <a:rPr lang="fr-FR" sz="2400" dirty="0"/>
              <a:t> , ∇</a:t>
            </a:r>
            <a:r>
              <a:rPr lang="fr-FR" sz="2400" baseline="-25000" dirty="0"/>
              <a:t>j</a:t>
            </a:r>
            <a:r>
              <a:rPr lang="fr-FR" sz="2400" dirty="0"/>
              <a:t> i </a:t>
            </a:r>
            <a:r>
              <a:rPr lang="fr-FR" dirty="0"/>
              <a:t>≠ j</a:t>
            </a:r>
            <a:r>
              <a:rPr lang="fr-FR" sz="2400" dirty="0"/>
              <a:t> tels que </a:t>
            </a:r>
            <a:r>
              <a:rPr lang="fr-FR" sz="2400" b="1" dirty="0"/>
              <a:t>test</a:t>
            </a:r>
            <a:r>
              <a:rPr lang="fr-FR" sz="2400" dirty="0"/>
              <a:t>(∇</a:t>
            </a:r>
            <a:r>
              <a:rPr lang="fr-FR" sz="2400" baseline="-25000" dirty="0"/>
              <a:t>i</a:t>
            </a:r>
            <a:r>
              <a:rPr lang="fr-FR" sz="2400" dirty="0"/>
              <a:t>) = </a:t>
            </a:r>
            <a:r>
              <a:rPr lang="fr-FR" sz="2400" b="1" dirty="0"/>
              <a:t>test</a:t>
            </a:r>
            <a:r>
              <a:rPr lang="fr-FR" sz="2400" dirty="0"/>
              <a:t>(∇</a:t>
            </a:r>
            <a:r>
              <a:rPr lang="fr-FR" baseline="-25000" dirty="0"/>
              <a:t>j</a:t>
            </a:r>
            <a:r>
              <a:rPr lang="fr-FR" sz="2400" dirty="0"/>
              <a:t>) = ✖ et </a:t>
            </a:r>
            <a:r>
              <a:rPr lang="fr-FR" sz="2400" b="1" dirty="0"/>
              <a:t>test</a:t>
            </a:r>
            <a:r>
              <a:rPr lang="fr-FR" sz="2400" dirty="0"/>
              <a:t>(∇</a:t>
            </a:r>
            <a:r>
              <a:rPr lang="fr-FR" sz="2400" baseline="-25000" dirty="0"/>
              <a:t>i</a:t>
            </a:r>
            <a:r>
              <a:rPr lang="fr-FR" sz="2400" dirty="0"/>
              <a:t> </a:t>
            </a:r>
            <a:r>
              <a:rPr lang="fr-FR" dirty="0"/>
              <a:t>∩</a:t>
            </a:r>
            <a:r>
              <a:rPr lang="fr-FR" sz="2400" dirty="0"/>
              <a:t> ∇</a:t>
            </a:r>
            <a:r>
              <a:rPr lang="fr-FR" sz="2400" baseline="-25000" dirty="0"/>
              <a:t>j</a:t>
            </a:r>
            <a:r>
              <a:rPr lang="fr-FR" sz="2400" dirty="0"/>
              <a:t>) = ✓</a:t>
            </a:r>
          </a:p>
          <a:p>
            <a:pPr lvl="1"/>
            <a:endParaRPr lang="fr-FR" sz="2400" dirty="0"/>
          </a:p>
          <a:p>
            <a:pPr marL="457200" lvl="1" indent="0">
              <a:buNone/>
            </a:pPr>
            <a:r>
              <a:rPr lang="fr-FR" dirty="0"/>
              <a:t>On a donc </a:t>
            </a:r>
            <a:r>
              <a:rPr lang="fr-FR" sz="2400" dirty="0">
                <a:solidFill>
                  <a:schemeClr val="accent4"/>
                </a:solidFill>
              </a:rPr>
              <a:t>• </a:t>
            </a:r>
            <a:r>
              <a:rPr lang="fr-FR" dirty="0"/>
              <a:t>⊆ </a:t>
            </a:r>
            <a:r>
              <a:rPr lang="fr-FR" sz="2400" dirty="0"/>
              <a:t>∇</a:t>
            </a:r>
            <a:r>
              <a:rPr lang="fr-FR" sz="2400" baseline="-25000" dirty="0"/>
              <a:t>i</a:t>
            </a:r>
            <a:r>
              <a:rPr lang="fr-FR" sz="2400" dirty="0"/>
              <a:t> et </a:t>
            </a:r>
            <a:r>
              <a:rPr lang="fr-FR" sz="2400" dirty="0">
                <a:solidFill>
                  <a:srgbClr val="FF0000"/>
                </a:solidFill>
              </a:rPr>
              <a:t>•</a:t>
            </a:r>
            <a:r>
              <a:rPr lang="fr-FR" sz="2400" dirty="0"/>
              <a:t> </a:t>
            </a:r>
            <a:r>
              <a:rPr lang="fr-FR" dirty="0"/>
              <a:t>⊆ </a:t>
            </a:r>
            <a:r>
              <a:rPr lang="fr-FR" sz="2400" dirty="0"/>
              <a:t>∇</a:t>
            </a:r>
            <a:r>
              <a:rPr lang="fr-FR" baseline="-25000" dirty="0"/>
              <a:t>j</a:t>
            </a:r>
            <a:r>
              <a:rPr lang="fr-FR" sz="2400" dirty="0"/>
              <a:t> (ou l’inverse) </a:t>
            </a:r>
          </a:p>
          <a:p>
            <a:pPr marL="457200" lvl="1" indent="0">
              <a:buNone/>
            </a:pPr>
            <a:r>
              <a:rPr lang="fr-FR" sz="2400" dirty="0"/>
              <a:t>On </a:t>
            </a:r>
            <a:r>
              <a:rPr lang="fr-FR" dirty="0"/>
              <a:t>regarde alors tous les ensembles </a:t>
            </a:r>
            <a:r>
              <a:rPr lang="fr-FR" sz="2400" dirty="0"/>
              <a:t>∇</a:t>
            </a:r>
            <a:r>
              <a:rPr lang="fr-FR" baseline="-25000" dirty="0"/>
              <a:t>k</a:t>
            </a:r>
            <a:r>
              <a:rPr lang="fr-FR" sz="2400" dirty="0"/>
              <a:t> tels que </a:t>
            </a:r>
            <a:r>
              <a:rPr lang="fr-FR" sz="2400" b="1" dirty="0"/>
              <a:t>test</a:t>
            </a:r>
            <a:r>
              <a:rPr lang="fr-FR" sz="2400" dirty="0"/>
              <a:t>(∇</a:t>
            </a:r>
            <a:r>
              <a:rPr lang="fr-FR" sz="2400" baseline="-25000" dirty="0"/>
              <a:t>i</a:t>
            </a:r>
            <a:r>
              <a:rPr lang="fr-FR" sz="2400" dirty="0"/>
              <a:t> </a:t>
            </a:r>
            <a:r>
              <a:rPr lang="fr-FR" dirty="0"/>
              <a:t>∩</a:t>
            </a:r>
            <a:r>
              <a:rPr lang="fr-FR" sz="2400" dirty="0"/>
              <a:t> ∇</a:t>
            </a:r>
            <a:r>
              <a:rPr lang="fr-FR" baseline="-25000" dirty="0"/>
              <a:t>k</a:t>
            </a:r>
            <a:r>
              <a:rPr lang="fr-FR" sz="2400" dirty="0"/>
              <a:t>) = ✖, l’intersection fournit un ensemble de taill</a:t>
            </a:r>
            <a:r>
              <a:rPr lang="fr-FR" dirty="0"/>
              <a:t>e minimale qui contient </a:t>
            </a:r>
            <a:r>
              <a:rPr lang="fr-FR" sz="2400" dirty="0">
                <a:solidFill>
                  <a:schemeClr val="accent4"/>
                </a:solidFill>
              </a:rPr>
              <a:t>•</a:t>
            </a:r>
            <a:r>
              <a:rPr lang="fr-FR" sz="2400" dirty="0"/>
              <a:t> (de même pour ∇</a:t>
            </a:r>
            <a:r>
              <a:rPr lang="fr-FR" baseline="-25000" dirty="0"/>
              <a:t>j</a:t>
            </a:r>
            <a:r>
              <a:rPr lang="fr-FR" sz="2400" dirty="0"/>
              <a:t>)</a:t>
            </a:r>
          </a:p>
          <a:p>
            <a:pPr lvl="1"/>
            <a:endParaRPr lang="fr-FR" dirty="0"/>
          </a:p>
          <a:p>
            <a:pPr lvl="1"/>
            <a:r>
              <a:rPr lang="fr-FR" dirty="0">
                <a:solidFill>
                  <a:srgbClr val="FF0000"/>
                </a:solidFill>
              </a:rPr>
              <a:t>On a non-nullité de la matrice réduite !</a:t>
            </a:r>
            <a:endParaRPr lang="fr-FR" baseline="-25000" dirty="0">
              <a:solidFill>
                <a:srgbClr val="FF000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513488-DF70-96FE-EE98-8D63C4A3B6BB}"/>
              </a:ext>
            </a:extLst>
          </p:cNvPr>
          <p:cNvSpPr txBox="1"/>
          <p:nvPr/>
        </p:nvSpPr>
        <p:spPr>
          <a:xfrm>
            <a:off x="5310349" y="2383722"/>
            <a:ext cx="250928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 </a:t>
            </a:r>
            <a:r>
              <a:rPr lang="fr-FR" sz="1600" dirty="0">
                <a:solidFill>
                  <a:srgbClr val="B2B2B2"/>
                </a:solidFill>
              </a:rPr>
              <a:t>✖  ✖  </a:t>
            </a:r>
            <a:r>
              <a:rPr lang="fr-FR" sz="1600" dirty="0"/>
              <a:t>| ✖  ✖  |  ✖  ✖ |  ✖  ✖</a:t>
            </a:r>
          </a:p>
          <a:p>
            <a:r>
              <a:rPr lang="fr-FR" sz="1600" dirty="0"/>
              <a:t>        </a:t>
            </a:r>
            <a:r>
              <a:rPr lang="fr-FR" sz="1600" dirty="0">
                <a:solidFill>
                  <a:srgbClr val="FF0000"/>
                </a:solidFill>
              </a:rPr>
              <a:t>•              </a:t>
            </a:r>
            <a:r>
              <a:rPr lang="fr-FR" sz="1600" dirty="0">
                <a:solidFill>
                  <a:schemeClr val="accent4"/>
                </a:solidFill>
              </a:rPr>
              <a:t>•       </a:t>
            </a:r>
            <a:r>
              <a:rPr lang="fr-FR" sz="1600" dirty="0">
                <a:solidFill>
                  <a:srgbClr val="FF0000"/>
                </a:solidFill>
              </a:rPr>
              <a:t>•</a:t>
            </a:r>
            <a:r>
              <a:rPr lang="fr-FR" sz="1600" dirty="0">
                <a:solidFill>
                  <a:schemeClr val="accent4"/>
                </a:solidFill>
              </a:rPr>
              <a:t>    •</a:t>
            </a:r>
          </a:p>
        </p:txBody>
      </p:sp>
    </p:spTree>
    <p:extLst>
      <p:ext uri="{BB962C8B-B14F-4D97-AF65-F5344CB8AC3E}">
        <p14:creationId xmlns:p14="http://schemas.microsoft.com/office/powerpoint/2010/main" val="58983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C886D-FE0A-48EA-0A69-6B09D0B19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AA59-3825-B66B-E66E-97AF2D758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Exemple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graphe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F1A0A129-E99B-DB18-4CC6-D147A15E4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0494"/>
          <a:stretch/>
        </p:blipFill>
        <p:spPr>
          <a:xfrm>
            <a:off x="6592140" y="91958"/>
            <a:ext cx="2236174" cy="676604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7183433-5518-F531-9635-DFAAEC946A0A}"/>
              </a:ext>
            </a:extLst>
          </p:cNvPr>
          <p:cNvSpPr txBox="1"/>
          <p:nvPr/>
        </p:nvSpPr>
        <p:spPr>
          <a:xfrm>
            <a:off x="950450" y="801146"/>
            <a:ext cx="277694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 ✖  ✖  | ✖  ✖  |  ✖  ✖ |  ✖  ✖</a:t>
            </a:r>
          </a:p>
          <a:p>
            <a:r>
              <a:rPr lang="fr-FR" dirty="0"/>
              <a:t>        </a:t>
            </a:r>
            <a:r>
              <a:rPr lang="fr-FR" dirty="0">
                <a:solidFill>
                  <a:srgbClr val="FF0000"/>
                </a:solidFill>
              </a:rPr>
              <a:t>•             •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B1F6266-484E-705D-575A-F3EF3713A386}"/>
              </a:ext>
            </a:extLst>
          </p:cNvPr>
          <p:cNvSpPr txBox="1"/>
          <p:nvPr/>
        </p:nvSpPr>
        <p:spPr>
          <a:xfrm>
            <a:off x="1153886" y="407900"/>
            <a:ext cx="2503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0      1       2       3</a:t>
            </a:r>
          </a:p>
        </p:txBody>
      </p:sp>
    </p:spTree>
    <p:extLst>
      <p:ext uri="{BB962C8B-B14F-4D97-AF65-F5344CB8AC3E}">
        <p14:creationId xmlns:p14="http://schemas.microsoft.com/office/powerpoint/2010/main" val="225668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1BDB3F-3349-C2D1-82D2-B0945D9E4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Exemple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graphe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39E3C19C-0E37-65B0-581B-3FE7461B3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0617"/>
          <a:stretch/>
        </p:blipFill>
        <p:spPr>
          <a:xfrm>
            <a:off x="6795104" y="18303"/>
            <a:ext cx="1924353" cy="683969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26B5CD2-4F49-248A-9CA8-C77C90F013BA}"/>
              </a:ext>
            </a:extLst>
          </p:cNvPr>
          <p:cNvSpPr txBox="1"/>
          <p:nvPr/>
        </p:nvSpPr>
        <p:spPr>
          <a:xfrm>
            <a:off x="941614" y="857607"/>
            <a:ext cx="280307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 </a:t>
            </a:r>
            <a:r>
              <a:rPr lang="fr-FR" dirty="0">
                <a:solidFill>
                  <a:srgbClr val="B2B2B2"/>
                </a:solidFill>
              </a:rPr>
              <a:t>✖  ✖  </a:t>
            </a:r>
            <a:r>
              <a:rPr lang="fr-FR" dirty="0"/>
              <a:t>| ✖  ✖  |  ✖  ✖ |  ✖  ✖</a:t>
            </a:r>
          </a:p>
          <a:p>
            <a:r>
              <a:rPr lang="fr-FR" dirty="0"/>
              <a:t>        </a:t>
            </a:r>
            <a:r>
              <a:rPr lang="fr-FR" dirty="0">
                <a:solidFill>
                  <a:srgbClr val="FF0000"/>
                </a:solidFill>
              </a:rPr>
              <a:t>•              </a:t>
            </a:r>
            <a:r>
              <a:rPr lang="fr-FR" dirty="0">
                <a:solidFill>
                  <a:schemeClr val="accent4"/>
                </a:solidFill>
              </a:rPr>
              <a:t>•       </a:t>
            </a:r>
            <a:r>
              <a:rPr lang="fr-FR" dirty="0">
                <a:solidFill>
                  <a:srgbClr val="FF0000"/>
                </a:solidFill>
              </a:rPr>
              <a:t>•</a:t>
            </a:r>
            <a:r>
              <a:rPr lang="fr-FR" dirty="0">
                <a:solidFill>
                  <a:schemeClr val="accent4"/>
                </a:solidFill>
              </a:rPr>
              <a:t>    •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71C3200-99A9-3912-8E57-56E33D00CC36}"/>
              </a:ext>
            </a:extLst>
          </p:cNvPr>
          <p:cNvSpPr txBox="1"/>
          <p:nvPr/>
        </p:nvSpPr>
        <p:spPr>
          <a:xfrm>
            <a:off x="1153886" y="407900"/>
            <a:ext cx="2503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0      1       2       3</a:t>
            </a:r>
          </a:p>
        </p:txBody>
      </p:sp>
    </p:spTree>
    <p:extLst>
      <p:ext uri="{BB962C8B-B14F-4D97-AF65-F5344CB8AC3E}">
        <p14:creationId xmlns:p14="http://schemas.microsoft.com/office/powerpoint/2010/main" val="96400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3B3FC-F1D5-848A-FAB8-EC2121B5A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Certitudes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671156-9BAA-8745-1027-9322E196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L’algorithme avec l’optimisation donne au moins le même résultat au final.</a:t>
            </a:r>
          </a:p>
          <a:p>
            <a:endParaRPr lang="fr-FR" dirty="0"/>
          </a:p>
          <a:p>
            <a:r>
              <a:rPr lang="fr-FR" dirty="0"/>
              <a:t>On ne fait jamais deux fois le même calcul dans un graphe.</a:t>
            </a:r>
          </a:p>
          <a:p>
            <a:endParaRPr lang="fr-FR" dirty="0"/>
          </a:p>
          <a:p>
            <a:r>
              <a:rPr lang="fr-FR" dirty="0"/>
              <a:t>Le mécanisme de gestion d’un mauvais </a:t>
            </a:r>
            <a:r>
              <a:rPr lang="fr-FR" dirty="0" err="1"/>
              <a:t>guess</a:t>
            </a:r>
            <a:r>
              <a:rPr lang="fr-FR" dirty="0"/>
              <a:t> fait moins de calcul que le cas classique, il n’augmente le nombre de test que de 1 ou 2.</a:t>
            </a:r>
          </a:p>
          <a:p>
            <a:endParaRPr lang="fr-FR" dirty="0"/>
          </a:p>
          <a:p>
            <a:r>
              <a:rPr lang="fr-FR" dirty="0"/>
              <a:t>Dans le cadre des hypothèses, on a une complexité totale séquentielle en n*(somme taille atomes). Ex : n*(3+2+6)</a:t>
            </a:r>
          </a:p>
          <a:p>
            <a:endParaRPr lang="fr-FR" dirty="0"/>
          </a:p>
          <a:p>
            <a:r>
              <a:rPr lang="fr-FR" dirty="0"/>
              <a:t>Dans le cas parallèle la taille du chemin critique vaut ln(n), quelque soit la taille et le nombre d’atomes.</a:t>
            </a:r>
          </a:p>
        </p:txBody>
      </p:sp>
    </p:spTree>
    <p:extLst>
      <p:ext uri="{BB962C8B-B14F-4D97-AF65-F5344CB8AC3E}">
        <p14:creationId xmlns:p14="http://schemas.microsoft.com/office/powerpoint/2010/main" val="954101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CACDA8-B2FE-6A8D-F7BE-0855FD866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Suppositions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7463FA-8211-E67B-45F8-69FEE1C56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9495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Il est possible d’améliorer la gestion du fail </a:t>
            </a:r>
            <a:r>
              <a:rPr lang="fr-FR" dirty="0" err="1"/>
              <a:t>guess</a:t>
            </a:r>
            <a:r>
              <a:rPr lang="fr-FR" dirty="0"/>
              <a:t> et de checker les intersections à 3 éléments, c’est un grand gain de temps par rapport au cas classique, ajoute au plus 3 tests.</a:t>
            </a:r>
          </a:p>
          <a:p>
            <a:endParaRPr lang="fr-FR" dirty="0"/>
          </a:p>
          <a:p>
            <a:r>
              <a:rPr lang="fr-FR" dirty="0"/>
              <a:t>Il est possible de pousser cela à l’extrême et de gérer des fails </a:t>
            </a:r>
            <a:r>
              <a:rPr lang="fr-FR" dirty="0" err="1"/>
              <a:t>guess</a:t>
            </a:r>
            <a:r>
              <a:rPr lang="fr-FR" dirty="0"/>
              <a:t> successif (au rang n), le gain est au moins quadratique en n par rapport à l’algo non optimisé.</a:t>
            </a:r>
          </a:p>
          <a:p>
            <a:endParaRPr lang="fr-FR" dirty="0"/>
          </a:p>
          <a:p>
            <a:r>
              <a:rPr lang="fr-FR" dirty="0"/>
              <a:t>Une telle implémentation rendrait l’optimisation certaine.</a:t>
            </a:r>
          </a:p>
          <a:p>
            <a:endParaRPr lang="fr-FR" dirty="0"/>
          </a:p>
          <a:p>
            <a:r>
              <a:rPr lang="fr-FR" dirty="0"/>
              <a:t>En cas d’optimisation certaine on a une «  branche de calcul » par </a:t>
            </a:r>
            <a:r>
              <a:rPr lang="fr-FR" dirty="0" err="1"/>
              <a:t>failing</a:t>
            </a:r>
            <a:r>
              <a:rPr lang="fr-FR" dirty="0"/>
              <a:t> set.</a:t>
            </a:r>
          </a:p>
        </p:txBody>
      </p:sp>
    </p:spTree>
    <p:extLst>
      <p:ext uri="{BB962C8B-B14F-4D97-AF65-F5344CB8AC3E}">
        <p14:creationId xmlns:p14="http://schemas.microsoft.com/office/powerpoint/2010/main" val="127315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E5CF22-8265-7227-6BE5-2E74FB61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Benchmark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D298BF-0E33-5F13-569D-16321C51C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15920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1FFC7F4-95A8-0C3B-215D-A16BCD868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Exemple d’utilisation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35029C2-393F-61AD-A73F-F9CBC56C8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764506"/>
            <a:ext cx="7225748" cy="532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05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CAF1A-8565-D780-94BD-2E023D1A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6D87CE-E0E0-90F7-B6DA-B19028EF8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Exemple d’utilisation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095AA27-AF36-BEDE-2A4E-0ED78A0FB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058" y="1674423"/>
            <a:ext cx="7862207" cy="352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278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9E321-38BC-54E4-BD6D-224EFB78E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951B5444-C7EC-CDE2-92BC-DDF3A7B2F2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85" b="1"/>
          <a:stretch>
            <a:fillRect/>
          </a:stretch>
        </p:blipFill>
        <p:spPr>
          <a:xfrm>
            <a:off x="4678313" y="444246"/>
            <a:ext cx="7084451" cy="5969507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774C11-031F-1366-B637-ABC79D8D8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Interface de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89890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958324-6A3B-FDAE-30D9-3B99C933C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7574" y="1895337"/>
            <a:ext cx="8147713" cy="3081242"/>
          </a:xfrm>
        </p:spPr>
        <p:txBody>
          <a:bodyPr anchor="ctr">
            <a:normAutofit/>
          </a:bodyPr>
          <a:lstStyle/>
          <a:p>
            <a:r>
              <a:rPr lang="fr-FR" sz="7200" dirty="0">
                <a:solidFill>
                  <a:srgbClr val="FFFFFF"/>
                </a:solidFill>
              </a:rPr>
              <a:t>Merci !</a:t>
            </a:r>
          </a:p>
        </p:txBody>
      </p:sp>
    </p:spTree>
    <p:extLst>
      <p:ext uri="{BB962C8B-B14F-4D97-AF65-F5344CB8AC3E}">
        <p14:creationId xmlns:p14="http://schemas.microsoft.com/office/powerpoint/2010/main" val="35432354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160133670F1A42BA5621B74F7075D2" ma:contentTypeVersion="14" ma:contentTypeDescription="Create a new document." ma:contentTypeScope="" ma:versionID="5ccd65107452a9cecf7c7e61d6951bf9">
  <xsd:schema xmlns:xsd="http://www.w3.org/2001/XMLSchema" xmlns:xs="http://www.w3.org/2001/XMLSchema" xmlns:p="http://schemas.microsoft.com/office/2006/metadata/properties" xmlns:ns2="ffd74f90-ccdd-4327-acc0-b7641a439f57" xmlns:ns3="36efd4d7-6805-4200-9e8d-977081b13074" targetNamespace="http://schemas.microsoft.com/office/2006/metadata/properties" ma:root="true" ma:fieldsID="53fee2351fb4a58ffcb6e834c7d08abf" ns2:_="" ns3:_="">
    <xsd:import namespace="ffd74f90-ccdd-4327-acc0-b7641a439f57"/>
    <xsd:import namespace="36efd4d7-6805-4200-9e8d-977081b1307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74f90-ccdd-4327-acc0-b7641a439f5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627fefa-b141-441d-ae27-4bdd0f4aa6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fd4d7-6805-4200-9e8d-977081b1307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b71281f7-4f98-4457-976c-f707a44e3a2f}" ma:internalName="TaxCatchAll" ma:showField="CatchAllData" ma:web="36efd4d7-6805-4200-9e8d-977081b130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fd74f90-ccdd-4327-acc0-b7641a439f57">
      <Terms xmlns="http://schemas.microsoft.com/office/infopath/2007/PartnerControls"/>
    </lcf76f155ced4ddcb4097134ff3c332f>
    <TaxCatchAll xmlns="36efd4d7-6805-4200-9e8d-977081b13074" xsi:nil="true"/>
  </documentManagement>
</p:properties>
</file>

<file path=customXml/itemProps1.xml><?xml version="1.0" encoding="utf-8"?>
<ds:datastoreItem xmlns:ds="http://schemas.openxmlformats.org/officeDocument/2006/customXml" ds:itemID="{5ABAFF06-5D3C-4D2F-89EE-7D197C54D8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52327A-F7D4-4D09-ABCE-1CC013680E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74f90-ccdd-4327-acc0-b7641a439f57"/>
    <ds:schemaRef ds:uri="36efd4d7-6805-4200-9e8d-977081b130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563387-5D25-47E9-8BF9-1B6F43C2230A}">
  <ds:schemaRefs>
    <ds:schemaRef ds:uri="http://schemas.microsoft.com/office/2006/metadata/properties"/>
    <ds:schemaRef ds:uri="http://schemas.microsoft.com/office/infopath/2007/PartnerControls"/>
    <ds:schemaRef ds:uri="ffd74f90-ccdd-4327-acc0-b7641a439f57"/>
    <ds:schemaRef ds:uri="36efd4d7-6805-4200-9e8d-977081b1307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2183</Words>
  <Application>Microsoft Office PowerPoint</Application>
  <PresentationFormat>Grand écran</PresentationFormat>
  <Paragraphs>385</Paragraphs>
  <Slides>40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Thème Office</vt:lpstr>
      <vt:lpstr>Parallélisation du delta debug stochastique</vt:lpstr>
      <vt:lpstr>Objectif : Comprendre le nouvel algorithme et voir à quoi ressemble l’implémentation</vt:lpstr>
      <vt:lpstr>Sommaire</vt:lpstr>
      <vt:lpstr>Rappel sur le delta debug : Représentation</vt:lpstr>
      <vt:lpstr>Rappel sur le delta debug : Fonction test</vt:lpstr>
      <vt:lpstr>Rappel sur le delta debug : Exemple de déroulé</vt:lpstr>
      <vt:lpstr>Intro : Rappel sur le delta debug</vt:lpstr>
      <vt:lpstr>Intro : Rappel sur le delta debug</vt:lpstr>
      <vt:lpstr>Notation :</vt:lpstr>
      <vt:lpstr>Parallélisation :</vt:lpstr>
      <vt:lpstr>Les task :</vt:lpstr>
      <vt:lpstr>Les task : font un test sur l’entrée delta</vt:lpstr>
      <vt:lpstr>Si les deux sous tests passent : </vt:lpstr>
      <vt:lpstr>Si les quatre tests passent :</vt:lpstr>
      <vt:lpstr>Si les complémentaires passent aussi 🤯:</vt:lpstr>
      <vt:lpstr>Quelques exemples :</vt:lpstr>
      <vt:lpstr>Quelques exemples :</vt:lpstr>
      <vt:lpstr>Problème de parallélisation</vt:lpstr>
      <vt:lpstr>Flashback ⏳</vt:lpstr>
      <vt:lpstr>[0, 1, 2, 3]</vt:lpstr>
      <vt:lpstr>[0, 1, 2, 3,  4, 5, 6, 7]</vt:lpstr>
      <vt:lpstr>Point critique :</vt:lpstr>
      <vt:lpstr>L’idée :</vt:lpstr>
      <vt:lpstr>L’idée : Séparer les failing sets</vt:lpstr>
      <vt:lpstr>L’idée : problèmes de collision</vt:lpstr>
      <vt:lpstr>Présentation PowerPoint</vt:lpstr>
      <vt:lpstr>Explication :</vt:lpstr>
      <vt:lpstr>Présentation PowerPoint</vt:lpstr>
      <vt:lpstr>Cas général :</vt:lpstr>
      <vt:lpstr>Cas général :</vt:lpstr>
      <vt:lpstr>Cas général :</vt:lpstr>
      <vt:lpstr>Exemple en graphe</vt:lpstr>
      <vt:lpstr>Exemple en graphe</vt:lpstr>
      <vt:lpstr>Certitudes :</vt:lpstr>
      <vt:lpstr>Suppositions :</vt:lpstr>
      <vt:lpstr>Benchmark</vt:lpstr>
      <vt:lpstr>Exemple d’utilisation</vt:lpstr>
      <vt:lpstr>Exemple d’utilisation</vt:lpstr>
      <vt:lpstr>Interface de Configuration</vt:lpstr>
      <vt:lpstr>Merci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Erwan TCHALEU NGANKEU (ANEO)</dc:creator>
  <cp:lastModifiedBy>erwan Tchale</cp:lastModifiedBy>
  <cp:revision>3</cp:revision>
  <dcterms:created xsi:type="dcterms:W3CDTF">2025-08-20T15:41:11Z</dcterms:created>
  <dcterms:modified xsi:type="dcterms:W3CDTF">2026-03-27T08:31:43Z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0x0101008D160133670F1A42BA5621B74F7075D2</vt:lpwstr>
  </property>
</Properties>
</file>